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457200"/>
            <a:ext cx="10728655" cy="822960"/>
          </a:xfrm>
          <a:prstGeom prst="rect">
            <a:avLst/>
          </a:prstGeom>
          <a:noFill/>
        </p:spPr>
        <p:txBody>
          <a:bodyPr wrap="none">
            <a:spAutoFit/>
          </a:bodyPr>
          <a:lstStyle/>
          <a:p>
            <a:pPr>
              <a:defRPr sz="1100" b="1">
                <a:solidFill>
                  <a:srgbClr val="00A896"/>
                </a:solidFill>
                <a:latin typeface="Arial"/>
              </a:defRPr>
            </a:pPr>
            <a:r>
              <a:t>ĐẠI HỌC QUỐC GIA TP. HỒ CHÍ MINH  •  TRƯỜNG ĐẠI HỌC KHOA HỌC TỰ NHIÊN</a:t>
            </a:r>
          </a:p>
          <a:p>
            <a:pPr>
              <a:defRPr sz="1000">
                <a:solidFill>
                  <a:srgbClr val="FFFFFF"/>
                </a:solidFill>
                <a:latin typeface="Arial"/>
              </a:defRPr>
            </a:pPr>
            <a:r>
              <a:t>KHOA ĐIỆN TỬ – VIỄN THÔNG  |  BỘ MÔN VIỄN THÔNG VÀ MẠNG</a:t>
            </a:r>
          </a:p>
        </p:txBody>
      </p:sp>
      <p:sp>
        <p:nvSpPr>
          <p:cNvPr id="5" name="Rounded Rectangle 4"/>
          <p:cNvSpPr/>
          <p:nvPr/>
        </p:nvSpPr>
        <p:spPr>
          <a:xfrm>
            <a:off x="731520" y="1463040"/>
            <a:ext cx="5303520" cy="329184"/>
          </a:xfrm>
          <a:prstGeom prst="roundRect">
            <a:avLst/>
          </a:prstGeom>
          <a:solidFill>
            <a:srgbClr val="0D3B66"/>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00A896"/>
                </a:solidFill>
                <a:latin typeface="Arial"/>
              </a:defRPr>
            </a:pPr>
            <a:r>
              <a:t>BÁO CÁO ĐỒ ÁN MÔN HỌC: TRUYỀN THÔNG KHÔNG DÂY (ETC10309)</a:t>
            </a:r>
          </a:p>
        </p:txBody>
      </p:sp>
      <p:sp>
        <p:nvSpPr>
          <p:cNvPr id="6" name="TextBox 5"/>
          <p:cNvSpPr txBox="1"/>
          <p:nvPr/>
        </p:nvSpPr>
        <p:spPr>
          <a:xfrm>
            <a:off x="731520" y="2011680"/>
            <a:ext cx="10728655" cy="1645920"/>
          </a:xfrm>
          <a:prstGeom prst="rect">
            <a:avLst/>
          </a:prstGeom>
          <a:noFill/>
        </p:spPr>
        <p:txBody>
          <a:bodyPr wrap="square">
            <a:spAutoFit/>
          </a:bodyPr>
          <a:lstStyle/>
          <a:p>
            <a:pPr>
              <a:spcAft>
                <a:spcPts val="800"/>
              </a:spcAft>
              <a:defRPr sz="3200" b="1">
                <a:solidFill>
                  <a:srgbClr val="FFFFFF"/>
                </a:solidFill>
                <a:latin typeface="Arial"/>
              </a:defRPr>
            </a:pPr>
            <a:r>
              <a:t>THIẾT KẾ VÀ MÔ PHỎNG HỆ THỐNG MIMO 2x2</a:t>
            </a:r>
          </a:p>
          <a:p>
            <a:pPr>
              <a:defRPr sz="1700">
                <a:solidFill>
                  <a:srgbClr val="00A896"/>
                </a:solidFill>
                <a:latin typeface="Arial"/>
              </a:defRPr>
            </a:pPr>
            <a:r>
              <a:t>Nghiên cứu Kỹ thuật Phân tập Không - Thời gian STBC Alamouti và Ghép kênh Không gian SDM</a:t>
            </a:r>
          </a:p>
        </p:txBody>
      </p:sp>
      <p:sp>
        <p:nvSpPr>
          <p:cNvPr id="7" name="Rectangle 6"/>
          <p:cNvSpPr/>
          <p:nvPr/>
        </p:nvSpPr>
        <p:spPr>
          <a:xfrm>
            <a:off x="731520" y="3931920"/>
            <a:ext cx="5212080" cy="1828800"/>
          </a:xfrm>
          <a:prstGeom prst="rect">
            <a:avLst/>
          </a:prstGeom>
          <a:solidFill>
            <a:srgbClr val="0D3B66"/>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A896"/>
                </a:solidFill>
                <a:latin typeface="Arial"/>
              </a:defRPr>
            </a:pPr>
            <a:r>
              <a:t>GIẢNG VIÊN HƯỚNG DẪN</a:t>
            </a:r>
          </a:p>
          <a:p>
            <a:pPr>
              <a:spcAft>
                <a:spcPts val="400"/>
              </a:spcAft>
              <a:defRPr sz="1300" b="1">
                <a:solidFill>
                  <a:srgbClr val="FFFFFF"/>
                </a:solidFill>
                <a:latin typeface="Arial"/>
              </a:defRPr>
            </a:pPr>
            <a:r>
              <a:t>•  TS. Đặng Lê Khoa</a:t>
            </a:r>
          </a:p>
          <a:p>
            <a:pPr>
              <a:defRPr sz="1300" b="1">
                <a:solidFill>
                  <a:srgbClr val="FFFFFF"/>
                </a:solidFill>
                <a:latin typeface="Arial"/>
              </a:defRPr>
            </a:pPr>
            <a:r>
              <a:t>•  CN. Nguyễn Dũng</a:t>
            </a:r>
          </a:p>
        </p:txBody>
      </p:sp>
      <p:sp>
        <p:nvSpPr>
          <p:cNvPr id="8" name="Rectangle 7"/>
          <p:cNvSpPr/>
          <p:nvPr/>
        </p:nvSpPr>
        <p:spPr>
          <a:xfrm>
            <a:off x="6217920" y="3931920"/>
            <a:ext cx="5242255" cy="1828800"/>
          </a:xfrm>
          <a:prstGeom prst="rect">
            <a:avLst/>
          </a:prstGeom>
          <a:solidFill>
            <a:srgbClr val="0D3B66"/>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100" b="1">
                <a:solidFill>
                  <a:srgbClr val="00A896"/>
                </a:solidFill>
                <a:latin typeface="Arial"/>
              </a:defRPr>
            </a:pPr>
            <a:r>
              <a:t>SINH VIÊN THỰC HIỆN</a:t>
            </a:r>
          </a:p>
          <a:p>
            <a:pPr>
              <a:spcAft>
                <a:spcPts val="400"/>
              </a:spcAft>
              <a:defRPr sz="1300" b="1">
                <a:solidFill>
                  <a:srgbClr val="FFFFFF"/>
                </a:solidFill>
                <a:latin typeface="Arial"/>
              </a:defRPr>
            </a:pPr>
            <a:r>
              <a:t>•  Họ và tên: Lê Ngọc Tường</a:t>
            </a:r>
          </a:p>
          <a:p>
            <a:pPr>
              <a:defRPr sz="1200">
                <a:solidFill>
                  <a:srgbClr val="FFFFFF"/>
                </a:solidFill>
                <a:latin typeface="Arial"/>
              </a:defRPr>
            </a:pPr>
            <a:r>
              <a:t>•  MSSV: 22207044  —  Lớp: 22DTV_CLC1</a:t>
            </a:r>
          </a:p>
        </p:txBody>
      </p:sp>
      <p:sp>
        <p:nvSpPr>
          <p:cNvPr id="9" name="TextBox 8"/>
          <p:cNvSpPr txBox="1"/>
          <p:nvPr/>
        </p:nvSpPr>
        <p:spPr>
          <a:xfrm>
            <a:off x="731520" y="6217920"/>
            <a:ext cx="10728655" cy="365760"/>
          </a:xfrm>
          <a:prstGeom prst="rect">
            <a:avLst/>
          </a:prstGeom>
          <a:noFill/>
        </p:spPr>
        <p:txBody>
          <a:bodyPr wrap="none">
            <a:spAutoFit/>
          </a:bodyPr>
          <a:lstStyle/>
          <a:p>
            <a:pPr algn="ctr">
              <a:defRPr sz="1000">
                <a:solidFill>
                  <a:srgbClr val="64748B"/>
                </a:solidFill>
                <a:latin typeface="Arial"/>
              </a:defRPr>
            </a:pPr>
            <a:r>
              <a:t>Thành phố Hồ Chí Minh, Tháng 10 Năm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TỔNG QUAN ĐỀ TÀI</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Mục tiêu Nghiên cứu và Yêu cầu Kỹ thuật Đề tài P6</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2 / 21</a:t>
            </a:r>
          </a:p>
        </p:txBody>
      </p:sp>
      <p:sp>
        <p:nvSpPr>
          <p:cNvPr id="7" name="Rectangle 6"/>
          <p:cNvSpPr/>
          <p:nvPr/>
        </p:nvSpPr>
        <p:spPr>
          <a:xfrm>
            <a:off x="731520" y="1371600"/>
            <a:ext cx="5212080" cy="3474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MỤC TIÊU CỐT LÕI CỦA ĐỀ TÀI</a:t>
            </a:r>
          </a:p>
        </p:txBody>
      </p:sp>
      <p:sp>
        <p:nvSpPr>
          <p:cNvPr id="9" name="TextBox 8"/>
          <p:cNvSpPr txBox="1"/>
          <p:nvPr/>
        </p:nvSpPr>
        <p:spPr>
          <a:xfrm>
            <a:off x="822960" y="1828800"/>
            <a:ext cx="5029200" cy="2926080"/>
          </a:xfrm>
          <a:prstGeom prst="rect">
            <a:avLst/>
          </a:prstGeom>
          <a:noFill/>
        </p:spPr>
        <p:txBody>
          <a:bodyPr wrap="square">
            <a:spAutoFit/>
          </a:bodyPr>
          <a:lstStyle/>
          <a:p>
            <a:pPr>
              <a:spcAft>
                <a:spcPts val="700"/>
              </a:spcAft>
              <a:defRPr sz="1100">
                <a:solidFill>
                  <a:srgbClr val="1E293B"/>
                </a:solidFill>
                <a:latin typeface="Arial"/>
              </a:defRPr>
            </a:pPr>
            <a:r>
              <a:t>•  Khảo sát giải tích số học trên ma trận kênh thực nghiệm cố định H = [0.7 0.3; 0.4 0.6] truyền 2 ký hiệu QPSK s0 = 1+j, s1 = 1-j.</a:t>
            </a:r>
          </a:p>
          <a:p>
            <a:pPr>
              <a:spcAft>
                <a:spcPts val="700"/>
              </a:spcAft>
              <a:defRPr sz="1100">
                <a:solidFill>
                  <a:srgbClr val="1E293B"/>
                </a:solidFill>
                <a:latin typeface="Arial"/>
              </a:defRPr>
            </a:pPr>
            <a:r>
              <a:t>•  Phân tích chuyên sâu 2 kỹ thuật nền tảng: STBC Alamouti (tối đa hóa độ tin cậy) và SDM Ghép kênh không gian (tối đa hóa tốc độ).</a:t>
            </a:r>
          </a:p>
          <a:p>
            <a:pPr>
              <a:spcAft>
                <a:spcPts val="700"/>
              </a:spcAft>
              <a:defRPr sz="1100">
                <a:solidFill>
                  <a:srgbClr val="1E293B"/>
                </a:solidFill>
                <a:latin typeface="Arial"/>
              </a:defRPr>
            </a:pPr>
            <a:r>
              <a:t>•  Khảo sát toàn diện hiệu năng thống kê: Đánh giá BER qua 2x10^5 bit Monte Carlo và Dung lượng Shannon-Telatar trên kênh Rayleigh.</a:t>
            </a:r>
          </a:p>
          <a:p>
            <a:pPr>
              <a:spcAft>
                <a:spcPts val="700"/>
              </a:spcAft>
              <a:defRPr sz="1100">
                <a:solidFill>
                  <a:srgbClr val="1E293B"/>
                </a:solidFill>
                <a:latin typeface="Arial"/>
              </a:defRPr>
            </a:pPr>
            <a:r>
              <a:t>•  Xác thực tính đúng đắn: Đối chiếu chặt chẽ giữa công thức giải tích lý thuyết và mô phỏng thực nghiệm trên MATLAB &amp; Python.</a:t>
            </a:r>
          </a:p>
        </p:txBody>
      </p:sp>
      <p:sp>
        <p:nvSpPr>
          <p:cNvPr id="10" name="Rectangle 9"/>
          <p:cNvSpPr/>
          <p:nvPr/>
        </p:nvSpPr>
        <p:spPr>
          <a:xfrm>
            <a:off x="6248095" y="1371600"/>
            <a:ext cx="5212080" cy="3474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RÀNG BUỘC KỸ THUẬT &amp; PHƯƠNG PHÁP LUẬN</a:t>
            </a:r>
          </a:p>
        </p:txBody>
      </p:sp>
      <p:sp>
        <p:nvSpPr>
          <p:cNvPr id="12" name="TextBox 11"/>
          <p:cNvSpPr txBox="1"/>
          <p:nvPr/>
        </p:nvSpPr>
        <p:spPr>
          <a:xfrm>
            <a:off x="6339535" y="1828800"/>
            <a:ext cx="5029200" cy="2926080"/>
          </a:xfrm>
          <a:prstGeom prst="rect">
            <a:avLst/>
          </a:prstGeom>
          <a:noFill/>
        </p:spPr>
        <p:txBody>
          <a:bodyPr wrap="square">
            <a:spAutoFit/>
          </a:bodyPr>
          <a:lstStyle/>
          <a:p>
            <a:pPr>
              <a:spcAft>
                <a:spcPts val="700"/>
              </a:spcAft>
              <a:defRPr sz="1100">
                <a:solidFill>
                  <a:srgbClr val="1E293B"/>
                </a:solidFill>
                <a:latin typeface="Arial"/>
              </a:defRPr>
            </a:pPr>
            <a:r>
              <a:t>•  Mô hình hệ thống: 2 anten phát (Tx1, Tx2) và 2 anten thu (Rx1, Rx2).</a:t>
            </a:r>
          </a:p>
          <a:p>
            <a:pPr>
              <a:spcAft>
                <a:spcPts val="700"/>
              </a:spcAft>
              <a:defRPr sz="1100">
                <a:solidFill>
                  <a:srgbClr val="1E293B"/>
                </a:solidFill>
                <a:latin typeface="Arial"/>
              </a:defRPr>
            </a:pPr>
            <a:r>
              <a:t>•  Môi trường vô tuyến: Kênh fading phẳng Rayleigh biến đổi chậm (quasi-static) cộng nhiễu tạp âm trắng Gauss (AWGN).</a:t>
            </a:r>
          </a:p>
          <a:p>
            <a:pPr>
              <a:spcAft>
                <a:spcPts val="700"/>
              </a:spcAft>
              <a:defRPr sz="1100">
                <a:solidFill>
                  <a:srgbClr val="1E293B"/>
                </a:solidFill>
                <a:latin typeface="Arial"/>
              </a:defRPr>
            </a:pPr>
            <a:r>
              <a:t>•  Độ chính xác thuật toán: Chứng minh giải tích triệt can nhiễu, sai số khôi phục đạt mức epsilon máy tính (&lt; 1e-15).</a:t>
            </a:r>
          </a:p>
          <a:p>
            <a:pPr>
              <a:spcAft>
                <a:spcPts val="700"/>
              </a:spcAft>
              <a:defRPr sz="1100">
                <a:solidFill>
                  <a:srgbClr val="1E293B"/>
                </a:solidFill>
                <a:latin typeface="Arial"/>
              </a:defRPr>
            </a:pPr>
            <a:r>
              <a:t>•  Kiểm chứng độc lập: Xây dựng đồng thời hai bộ mã nguồn kiểm chứng chéo trên MATLAB R2026 và Python 3.12 (NumPy/SciPy).</a:t>
            </a:r>
          </a:p>
        </p:txBody>
      </p:sp>
      <p:sp>
        <p:nvSpPr>
          <p:cNvPr id="13" name="Rectangle 12"/>
          <p:cNvSpPr/>
          <p:nvPr/>
        </p:nvSpPr>
        <p:spPr>
          <a:xfrm>
            <a:off x="731520" y="5029200"/>
            <a:ext cx="3383280" cy="1188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31520" y="5102352"/>
            <a:ext cx="3383280" cy="1042416"/>
          </a:xfrm>
          <a:prstGeom prst="rect">
            <a:avLst/>
          </a:prstGeom>
          <a:noFill/>
        </p:spPr>
        <p:txBody>
          <a:bodyPr wrap="square">
            <a:spAutoFit/>
          </a:bodyPr>
          <a:lstStyle/>
          <a:p>
            <a:pPr algn="ctr">
              <a:defRPr sz="900" b="1">
                <a:solidFill>
                  <a:srgbClr val="64748B"/>
                </a:solidFill>
                <a:latin typeface="Arial"/>
              </a:defRPr>
            </a:pPr>
            <a:r>
              <a:t>BẬC PHÂN TẬP TỐI ĐA</a:t>
            </a:r>
          </a:p>
          <a:p>
            <a:pPr algn="ctr">
              <a:defRPr sz="2200" b="1">
                <a:solidFill>
                  <a:srgbClr val="00A896"/>
                </a:solidFill>
                <a:latin typeface="Arial"/>
              </a:defRPr>
            </a:pPr>
            <a:r>
              <a:t>d = 4</a:t>
            </a:r>
          </a:p>
          <a:p>
            <a:pPr algn="ctr">
              <a:defRPr sz="950">
                <a:solidFill>
                  <a:srgbClr val="1E293B"/>
                </a:solidFill>
                <a:latin typeface="Arial"/>
              </a:defRPr>
            </a:pPr>
            <a:r>
              <a:t>MIMO 2x2 STBC tiết kiệm 16.5 dB công suất</a:t>
            </a:r>
          </a:p>
        </p:txBody>
      </p:sp>
      <p:sp>
        <p:nvSpPr>
          <p:cNvPr id="15" name="Rectangle 14"/>
          <p:cNvSpPr/>
          <p:nvPr/>
        </p:nvSpPr>
        <p:spPr>
          <a:xfrm>
            <a:off x="4403750" y="5029200"/>
            <a:ext cx="3383280" cy="1188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03750" y="5102352"/>
            <a:ext cx="3383280" cy="1042416"/>
          </a:xfrm>
          <a:prstGeom prst="rect">
            <a:avLst/>
          </a:prstGeom>
          <a:noFill/>
        </p:spPr>
        <p:txBody>
          <a:bodyPr wrap="square">
            <a:spAutoFit/>
          </a:bodyPr>
          <a:lstStyle/>
          <a:p>
            <a:pPr algn="ctr">
              <a:defRPr sz="900" b="1">
                <a:solidFill>
                  <a:srgbClr val="64748B"/>
                </a:solidFill>
                <a:latin typeface="Arial"/>
              </a:defRPr>
            </a:pPr>
            <a:r>
              <a:t>GHÉP KÊNH SONG SONG</a:t>
            </a:r>
          </a:p>
          <a:p>
            <a:pPr algn="ctr">
              <a:defRPr sz="2200" b="1">
                <a:solidFill>
                  <a:srgbClr val="028090"/>
                </a:solidFill>
                <a:latin typeface="Arial"/>
              </a:defRPr>
            </a:pPr>
            <a:r>
              <a:t>r = 2 luồng</a:t>
            </a:r>
          </a:p>
          <a:p>
            <a:pPr algn="ctr">
              <a:defRPr sz="950">
                <a:solidFill>
                  <a:srgbClr val="1E293B"/>
                </a:solidFill>
                <a:latin typeface="Arial"/>
              </a:defRPr>
            </a:pPr>
            <a:r>
              <a:t>Nhân đôi hiệu suất phổ bps/Hz không tốn băng thông</a:t>
            </a:r>
          </a:p>
        </p:txBody>
      </p:sp>
      <p:sp>
        <p:nvSpPr>
          <p:cNvPr id="17" name="Rectangle 16"/>
          <p:cNvSpPr/>
          <p:nvPr/>
        </p:nvSpPr>
        <p:spPr>
          <a:xfrm>
            <a:off x="8076895" y="5029200"/>
            <a:ext cx="3383280" cy="11887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76895" y="5102352"/>
            <a:ext cx="3383280" cy="1042416"/>
          </a:xfrm>
          <a:prstGeom prst="rect">
            <a:avLst/>
          </a:prstGeom>
          <a:noFill/>
        </p:spPr>
        <p:txBody>
          <a:bodyPr wrap="square">
            <a:spAutoFit/>
          </a:bodyPr>
          <a:lstStyle/>
          <a:p>
            <a:pPr algn="ctr">
              <a:defRPr sz="900" b="1">
                <a:solidFill>
                  <a:srgbClr val="64748B"/>
                </a:solidFill>
                <a:latin typeface="Arial"/>
              </a:defRPr>
            </a:pPr>
            <a:r>
              <a:t>NGƯỠNG WATER-FILLING</a:t>
            </a:r>
          </a:p>
          <a:p>
            <a:pPr algn="ctr">
              <a:defRPr sz="2200" b="1">
                <a:solidFill>
                  <a:srgbClr val="002B49"/>
                </a:solidFill>
                <a:latin typeface="Arial"/>
              </a:defRPr>
            </a:pPr>
            <a:r>
              <a:t>10.15 dB</a:t>
            </a:r>
          </a:p>
          <a:p>
            <a:pPr algn="ctr">
              <a:defRPr sz="950">
                <a:solidFill>
                  <a:srgbClr val="1E293B"/>
                </a:solidFill>
                <a:latin typeface="Arial"/>
              </a:defRPr>
            </a:pPr>
            <a:r>
              <a:t>Chuyển mượt từ Beamforming sang Ghép kênh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KIẾN TRÚC HỆ THỐNG</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Kiến trúc Tổng quan Mô hình Hệ thống MIMO 2x2</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3 / 21</a:t>
            </a:r>
          </a:p>
        </p:txBody>
      </p:sp>
      <p:sp>
        <p:nvSpPr>
          <p:cNvPr id="7" name="Rectangle 6"/>
          <p:cNvSpPr/>
          <p:nvPr/>
        </p:nvSpPr>
        <p:spPr>
          <a:xfrm>
            <a:off x="731520" y="1371600"/>
            <a:ext cx="10728655" cy="731520"/>
          </a:xfrm>
          <a:prstGeom prst="rect">
            <a:avLst/>
          </a:prstGeom>
          <a:solidFill>
            <a:srgbClr val="FFFFFF"/>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545775" cy="640080"/>
          </a:xfrm>
          <a:prstGeom prst="rect">
            <a:avLst/>
          </a:prstGeom>
          <a:noFill/>
        </p:spPr>
        <p:txBody>
          <a:bodyPr wrap="none">
            <a:spAutoFit/>
          </a:bodyPr>
          <a:lstStyle/>
          <a:p>
            <a:pPr algn="ctr">
              <a:defRPr sz="1300" b="1">
                <a:solidFill>
                  <a:srgbClr val="002B49"/>
                </a:solidFill>
                <a:latin typeface="Arial"/>
              </a:defRPr>
            </a:pPr>
            <a:r>
              <a:t>Mô hình toán học tổng quát:   y = H x + n   với   H ∈ C^(2x2),  x ∈ C^(2x1),  y ∈ C^(2x1),  n ~ CN(0, σ_n^2 I_2)</a:t>
            </a:r>
          </a:p>
        </p:txBody>
      </p:sp>
      <p:sp>
        <p:nvSpPr>
          <p:cNvPr id="9" name="Rectangle 8"/>
          <p:cNvSpPr/>
          <p:nvPr/>
        </p:nvSpPr>
        <p:spPr>
          <a:xfrm>
            <a:off x="731520" y="2286000"/>
            <a:ext cx="3383280" cy="3931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286000"/>
            <a:ext cx="3383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1. KHỐI PHÁT (TRANSMITTER)</a:t>
            </a:r>
          </a:p>
        </p:txBody>
      </p:sp>
      <p:sp>
        <p:nvSpPr>
          <p:cNvPr id="11" name="TextBox 10"/>
          <p:cNvSpPr txBox="1"/>
          <p:nvPr/>
        </p:nvSpPr>
        <p:spPr>
          <a:xfrm>
            <a:off x="822960" y="2743200"/>
            <a:ext cx="3200400" cy="3291840"/>
          </a:xfrm>
          <a:prstGeom prst="rect">
            <a:avLst/>
          </a:prstGeom>
          <a:noFill/>
        </p:spPr>
        <p:txBody>
          <a:bodyPr wrap="square">
            <a:spAutoFit/>
          </a:bodyPr>
          <a:lstStyle/>
          <a:p>
            <a:pPr>
              <a:spcAft>
                <a:spcPts val="600"/>
              </a:spcAft>
              <a:defRPr sz="1050">
                <a:solidFill>
                  <a:srgbClr val="1E293B"/>
                </a:solidFill>
                <a:latin typeface="Arial"/>
              </a:defRPr>
            </a:pPr>
            <a:r>
              <a:t>•  Bộ điều chế số: Ánh xạ luồng bit nhị phân thành các ký hiệu phức (QPSK / 4-QAM).</a:t>
            </a:r>
          </a:p>
          <a:p>
            <a:pPr>
              <a:spcAft>
                <a:spcPts val="600"/>
              </a:spcAft>
              <a:defRPr sz="1050">
                <a:solidFill>
                  <a:srgbClr val="1E293B"/>
                </a:solidFill>
                <a:latin typeface="Arial"/>
              </a:defRPr>
            </a:pPr>
            <a:r>
              <a:t>•  Bộ xử lý không - thời gian: Phân chia luồng song song (SDM Demux) hoặc Mã hóa ma trận liên khe (STBC Encoder).</a:t>
            </a:r>
          </a:p>
          <a:p>
            <a:pPr>
              <a:spcAft>
                <a:spcPts val="600"/>
              </a:spcAft>
              <a:defRPr sz="1050">
                <a:solidFill>
                  <a:srgbClr val="1E293B"/>
                </a:solidFill>
                <a:latin typeface="Arial"/>
              </a:defRPr>
            </a:pPr>
            <a:r>
              <a:t>•  Ràng buộc công suất tổng cộng: E[||x||^2] = P_t (chia đều P_t/2 mỗi anten).</a:t>
            </a:r>
          </a:p>
          <a:p>
            <a:pPr>
              <a:spcAft>
                <a:spcPts val="600"/>
              </a:spcAft>
              <a:defRPr sz="1050">
                <a:solidFill>
                  <a:srgbClr val="1E293B"/>
                </a:solidFill>
                <a:latin typeface="Arial"/>
              </a:defRPr>
            </a:pPr>
            <a:r>
              <a:t>•  Mảng anten phát: Tx1 và Tx2 bức xạ độc lập vào không gian vô tuyến.</a:t>
            </a:r>
          </a:p>
        </p:txBody>
      </p:sp>
      <p:sp>
        <p:nvSpPr>
          <p:cNvPr id="12" name="Rectangle 11"/>
          <p:cNvSpPr/>
          <p:nvPr/>
        </p:nvSpPr>
        <p:spPr>
          <a:xfrm>
            <a:off x="4403750" y="2286000"/>
            <a:ext cx="3383280" cy="3931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3750" y="2286000"/>
            <a:ext cx="33832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2. KÊNH TRUYỀN KHÔNG GIAN</a:t>
            </a:r>
          </a:p>
        </p:txBody>
      </p:sp>
      <p:sp>
        <p:nvSpPr>
          <p:cNvPr id="14" name="TextBox 13"/>
          <p:cNvSpPr txBox="1"/>
          <p:nvPr/>
        </p:nvSpPr>
        <p:spPr>
          <a:xfrm>
            <a:off x="4495190" y="2743200"/>
            <a:ext cx="3200400" cy="3291840"/>
          </a:xfrm>
          <a:prstGeom prst="rect">
            <a:avLst/>
          </a:prstGeom>
          <a:noFill/>
        </p:spPr>
        <p:txBody>
          <a:bodyPr wrap="square">
            <a:spAutoFit/>
          </a:bodyPr>
          <a:lstStyle/>
          <a:p>
            <a:pPr>
              <a:spcAft>
                <a:spcPts val="600"/>
              </a:spcAft>
              <a:defRPr sz="1050">
                <a:solidFill>
                  <a:srgbClr val="1E293B"/>
                </a:solidFill>
                <a:latin typeface="Arial"/>
              </a:defRPr>
            </a:pPr>
            <a:r>
              <a:t>•  Ma trận kênh H: Chứa 4 hệ số suy hao phức h_ij từ anten phát j đến anten thu i.</a:t>
            </a:r>
          </a:p>
          <a:p>
            <a:pPr>
              <a:spcAft>
                <a:spcPts val="600"/>
              </a:spcAft>
              <a:defRPr sz="1050">
                <a:solidFill>
                  <a:srgbClr val="1E293B"/>
                </a:solidFill>
                <a:latin typeface="Arial"/>
              </a:defRPr>
            </a:pPr>
            <a:r>
              <a:t>•  Kênh cố định thực nghiệm: H = [0.7 0.3; 0.4 0.6] dùng kiểm chứng giải tích từng bước.</a:t>
            </a:r>
          </a:p>
          <a:p>
            <a:pPr>
              <a:spcAft>
                <a:spcPts val="600"/>
              </a:spcAft>
              <a:defRPr sz="1050">
                <a:solidFill>
                  <a:srgbClr val="1E293B"/>
                </a:solidFill>
                <a:latin typeface="Arial"/>
              </a:defRPr>
            </a:pPr>
            <a:r>
              <a:t>•  Kênh ngẫu nhiên: Fading Rayleigh biến đổi chậm mô phỏng đa đường không có tầm nhìn thẳng (NLOS).</a:t>
            </a:r>
          </a:p>
          <a:p>
            <a:pPr>
              <a:spcAft>
                <a:spcPts val="600"/>
              </a:spcAft>
              <a:defRPr sz="1050">
                <a:solidFill>
                  <a:srgbClr val="1E293B"/>
                </a:solidFill>
                <a:latin typeface="Arial"/>
              </a:defRPr>
            </a:pPr>
            <a:r>
              <a:t>•  Tạp âm AWGN: Nhiễu nhiệt tại các nhánh thu độc lập thống kê.</a:t>
            </a:r>
          </a:p>
        </p:txBody>
      </p:sp>
      <p:sp>
        <p:nvSpPr>
          <p:cNvPr id="15" name="Rectangle 14"/>
          <p:cNvSpPr/>
          <p:nvPr/>
        </p:nvSpPr>
        <p:spPr>
          <a:xfrm>
            <a:off x="8076895" y="2286000"/>
            <a:ext cx="3383280" cy="39319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6895" y="2286000"/>
            <a:ext cx="3383280"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3. KHỐI THU (RECEIVER)</a:t>
            </a:r>
          </a:p>
        </p:txBody>
      </p:sp>
      <p:sp>
        <p:nvSpPr>
          <p:cNvPr id="17" name="TextBox 16"/>
          <p:cNvSpPr txBox="1"/>
          <p:nvPr/>
        </p:nvSpPr>
        <p:spPr>
          <a:xfrm>
            <a:off x="8168335" y="2743200"/>
            <a:ext cx="3200400" cy="3291840"/>
          </a:xfrm>
          <a:prstGeom prst="rect">
            <a:avLst/>
          </a:prstGeom>
          <a:noFill/>
        </p:spPr>
        <p:txBody>
          <a:bodyPr wrap="square">
            <a:spAutoFit/>
          </a:bodyPr>
          <a:lstStyle/>
          <a:p>
            <a:pPr>
              <a:spcAft>
                <a:spcPts val="600"/>
              </a:spcAft>
              <a:defRPr sz="1050">
                <a:solidFill>
                  <a:srgbClr val="1E293B"/>
                </a:solidFill>
                <a:latin typeface="Arial"/>
              </a:defRPr>
            </a:pPr>
            <a:r>
              <a:t>•  Mảng anten thu: Rx1 và Rx2 đón nhận tín hiệu chồng lấn y1, y2.</a:t>
            </a:r>
          </a:p>
          <a:p>
            <a:pPr>
              <a:spcAft>
                <a:spcPts val="600"/>
              </a:spcAft>
              <a:defRPr sz="1050">
                <a:solidFill>
                  <a:srgbClr val="1E293B"/>
                </a:solidFill>
                <a:latin typeface="Arial"/>
              </a:defRPr>
            </a:pPr>
            <a:r>
              <a:t>•  Bộ ước lượng kênh (CSI): Cung cấp ma trận H chính xác cho bộ giải mã.</a:t>
            </a:r>
          </a:p>
          <a:p>
            <a:pPr>
              <a:spcAft>
                <a:spcPts val="600"/>
              </a:spcAft>
              <a:defRPr sz="1050">
                <a:solidFill>
                  <a:srgbClr val="1E293B"/>
                </a:solidFill>
                <a:latin typeface="Arial"/>
              </a:defRPr>
            </a:pPr>
            <a:r>
              <a:t>•  Bộ tách tín hiệu: Bộ kết hợp trực giao (STBC Combiner) hoặc Bộ cân bằng (ZF, MMSE, SVD).</a:t>
            </a:r>
          </a:p>
          <a:p>
            <a:pPr>
              <a:spcAft>
                <a:spcPts val="600"/>
              </a:spcAft>
              <a:defRPr sz="1050">
                <a:solidFill>
                  <a:srgbClr val="1E293B"/>
                </a:solidFill>
                <a:latin typeface="Arial"/>
              </a:defRPr>
            </a:pPr>
            <a:r>
              <a:t>•  Giải điều chế và Quyết định: Khôi phục chuỗi bit nhị phân ban đầu.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KÊNH TRUYỀN THỰC NGHIỆM</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Khảo sát Đặc tính Đại số Ma trận Kênh Thực nghiệm H</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4 / 21</a:t>
            </a:r>
          </a:p>
        </p:txBody>
      </p:sp>
      <p:sp>
        <p:nvSpPr>
          <p:cNvPr id="7" name="Rectangle 6"/>
          <p:cNvSpPr/>
          <p:nvPr/>
        </p:nvSpPr>
        <p:spPr>
          <a:xfrm>
            <a:off x="731520"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CÁC THÔNG SỐ ĐẠI SỐ MA TRẬN H</a:t>
            </a:r>
          </a:p>
        </p:txBody>
      </p:sp>
      <p:sp>
        <p:nvSpPr>
          <p:cNvPr id="9" name="TextBox 8"/>
          <p:cNvSpPr txBox="1"/>
          <p:nvPr/>
        </p:nvSpPr>
        <p:spPr>
          <a:xfrm>
            <a:off x="822960" y="1828800"/>
            <a:ext cx="5029200" cy="4206240"/>
          </a:xfrm>
          <a:prstGeom prst="rect">
            <a:avLst/>
          </a:prstGeom>
          <a:noFill/>
        </p:spPr>
        <p:txBody>
          <a:bodyPr wrap="square">
            <a:spAutoFit/>
          </a:bodyPr>
          <a:lstStyle/>
          <a:p>
            <a:pPr>
              <a:spcAft>
                <a:spcPts val="800"/>
              </a:spcAft>
              <a:defRPr sz="1100">
                <a:solidFill>
                  <a:srgbClr val="1E293B"/>
                </a:solidFill>
                <a:latin typeface="Arial"/>
              </a:defRPr>
            </a:pPr>
            <a:r>
              <a:t>•  Ma trận kênh khảo sát: H = [0.7 0.3; 0.4 0.6]</a:t>
            </a:r>
          </a:p>
          <a:p>
            <a:pPr>
              <a:spcAft>
                <a:spcPts val="800"/>
              </a:spcAft>
              <a:defRPr sz="1100">
                <a:solidFill>
                  <a:srgbClr val="1E293B"/>
                </a:solidFill>
                <a:latin typeface="Arial"/>
              </a:defRPr>
            </a:pPr>
            <a:r>
              <a:t>•  Định thức (Determinant): det(H) = (0.7)(0.6) - (0.3)(0.4) = 0.42 - 0.12 = 0.30 ≠ 0</a:t>
            </a:r>
          </a:p>
          <a:p>
            <a:pPr>
              <a:spcAft>
                <a:spcPts val="800"/>
              </a:spcAft>
              <a:defRPr sz="1100">
                <a:solidFill>
                  <a:srgbClr val="1E293B"/>
                </a:solidFill>
                <a:latin typeface="Arial"/>
              </a:defRPr>
            </a:pPr>
            <a:r>
              <a:t>•  Hạng ma trận (Rank): Rank(H) = 2 (Full-rank, ma trận khả nghịch hoàn toàn).</a:t>
            </a:r>
          </a:p>
          <a:p>
            <a:pPr>
              <a:spcAft>
                <a:spcPts val="800"/>
              </a:spcAft>
              <a:defRPr sz="1100">
                <a:solidFill>
                  <a:srgbClr val="1E293B"/>
                </a:solidFill>
                <a:latin typeface="Arial"/>
              </a:defRPr>
            </a:pPr>
            <a:r>
              <a:t>•  Chuẩn Frobenius bình phương: ||H||_F^2 = 0.7^2 + 0.3^2 + 0.4^2 + 0.6^2 = 1.10</a:t>
            </a:r>
          </a:p>
          <a:p>
            <a:pPr>
              <a:spcAft>
                <a:spcPts val="800"/>
              </a:spcAft>
              <a:defRPr sz="1100">
                <a:solidFill>
                  <a:srgbClr val="1E293B"/>
                </a:solidFill>
                <a:latin typeface="Arial"/>
              </a:defRPr>
            </a:pPr>
            <a:r>
              <a:t>•  Phân rã giá trị kỳ dị (SVD): σ_1 ≈ 1.00596,  σ_2 ≈ 0.29671</a:t>
            </a:r>
          </a:p>
          <a:p>
            <a:pPr>
              <a:spcAft>
                <a:spcPts val="800"/>
              </a:spcAft>
              <a:defRPr sz="1100">
                <a:solidFill>
                  <a:srgbClr val="1E293B"/>
                </a:solidFill>
                <a:latin typeface="Arial"/>
              </a:defRPr>
            </a:pPr>
            <a:r>
              <a:t>•  Trị riêng của H^H H: λ_1 = σ_1^2 = 1.01196,  λ_2 = σ_2^2 = 0.08804 (Tổng λ_1 + λ_2 = 1.10)</a:t>
            </a:r>
          </a:p>
          <a:p>
            <a:pPr>
              <a:spcAft>
                <a:spcPts val="800"/>
              </a:spcAft>
              <a:defRPr sz="1100">
                <a:solidFill>
                  <a:srgbClr val="1E293B"/>
                </a:solidFill>
                <a:latin typeface="Arial"/>
              </a:defRPr>
            </a:pPr>
            <a:r>
              <a:t>•  Số điều kiện (Condition Number): κ(H) = σ_1 / σ_2 = 3.3904 (10.60 dB)</a:t>
            </a:r>
          </a:p>
        </p:txBody>
      </p:sp>
      <p:sp>
        <p:nvSpPr>
          <p:cNvPr id="10" name="Rectangle 9"/>
          <p:cNvSpPr/>
          <p:nvPr/>
        </p:nvSpPr>
        <p:spPr>
          <a:xfrm>
            <a:off x="6248095"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Ý NGHĨA VẬT LÝ &amp; TÁC ĐỘNG KỸ THUẬT</a:t>
            </a:r>
          </a:p>
        </p:txBody>
      </p:sp>
      <p:sp>
        <p:nvSpPr>
          <p:cNvPr id="12" name="TextBox 11"/>
          <p:cNvSpPr txBox="1"/>
          <p:nvPr/>
        </p:nvSpPr>
        <p:spPr>
          <a:xfrm>
            <a:off x="6339535" y="1828800"/>
            <a:ext cx="5029200" cy="4206240"/>
          </a:xfrm>
          <a:prstGeom prst="rect">
            <a:avLst/>
          </a:prstGeom>
          <a:noFill/>
        </p:spPr>
        <p:txBody>
          <a:bodyPr wrap="square">
            <a:spAutoFit/>
          </a:bodyPr>
          <a:lstStyle/>
          <a:p>
            <a:pPr>
              <a:spcAft>
                <a:spcPts val="700"/>
              </a:spcAft>
              <a:defRPr sz="1100">
                <a:solidFill>
                  <a:srgbClr val="1E293B"/>
                </a:solidFill>
                <a:latin typeface="Arial"/>
              </a:defRPr>
            </a:pPr>
            <a:r>
              <a:t>•  Đánh giá tính ổn định số học: Số điều kiện κ(H) = 3.39 ở mức vừa phải, chứng minh ma trận kênh truyền không bị suy biến nghiêm trọng (well-conditioned).</a:t>
            </a:r>
          </a:p>
          <a:p>
            <a:pPr>
              <a:spcAft>
                <a:spcPts val="700"/>
              </a:spcAft>
              <a:defRPr sz="1100">
                <a:solidFill>
                  <a:srgbClr val="1E293B"/>
                </a:solidFill>
                <a:latin typeface="Arial"/>
              </a:defRPr>
            </a:pPr>
            <a:r>
              <a:t>•  Bất đối xứng năng lượng kênh: Kênh con thứ nhất (λ_1 = 1.012) có độ lợi năng lượng gấp 11.5 lần kênh con thứ hai (λ_2 = 0.088).</a:t>
            </a:r>
          </a:p>
          <a:p>
            <a:pPr>
              <a:spcAft>
                <a:spcPts val="700"/>
              </a:spcAft>
              <a:defRPr sz="1100">
                <a:solidFill>
                  <a:srgbClr val="1E293B"/>
                </a:solidFill>
                <a:latin typeface="Arial"/>
              </a:defRPr>
            </a:pPr>
            <a:r>
              <a:t>•  Khả năng thích ứng STBC: Khai thác trọn vẹn tổng năng lượng cả 4 đường truyền với ||H||_F^2 = 1.10, đảm bảo phân tập tối đa.</a:t>
            </a:r>
          </a:p>
          <a:p>
            <a:pPr>
              <a:spcAft>
                <a:spcPts val="700"/>
              </a:spcAft>
              <a:defRPr sz="1100">
                <a:solidFill>
                  <a:srgbClr val="1E293B"/>
                </a:solidFill>
                <a:latin typeface="Arial"/>
              </a:defRPr>
            </a:pPr>
            <a:r>
              <a:t>•  Dự báo tách sóng SDM: Do σ_2 khá nhỏ, phép nghịch đảo ma trận trong giải thuật Zero-Forcing sẽ gây ra hiện tượng khuếch đại nhiễu trên luồng thứ hai.</a:t>
            </a:r>
          </a:p>
          <a:p>
            <a:pPr>
              <a:spcAft>
                <a:spcPts val="700"/>
              </a:spcAft>
              <a:defRPr sz="1100">
                <a:solidFill>
                  <a:srgbClr val="1E293B"/>
                </a:solidFill>
                <a:latin typeface="Arial"/>
              </a:defRPr>
            </a:pPr>
            <a:r>
              <a:t>•  Tiền đề cho Water-filling: Sự chênh lệch độ sâu 1/σ_2^2 - 1/σ_1^2 là cơ sở hình thành ngưỡng chuyển tiếp chế độ Beamforming sang SDM.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STBC</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Kỹ thuật STBC Alamouti 2x2: Nguyên lý và Cấu trúc Mã hóa</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5 / 21</a:t>
            </a:r>
          </a:p>
        </p:txBody>
      </p:sp>
      <p:sp>
        <p:nvSpPr>
          <p:cNvPr id="7" name="Rectangle 6"/>
          <p:cNvSpPr/>
          <p:nvPr/>
        </p:nvSpPr>
        <p:spPr>
          <a:xfrm>
            <a:off x="731520" y="1371600"/>
            <a:ext cx="10728655" cy="1005840"/>
          </a:xfrm>
          <a:prstGeom prst="rect">
            <a:avLst/>
          </a:prstGeom>
          <a:solidFill>
            <a:srgbClr val="FFFFFF"/>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545775" cy="914400"/>
          </a:xfrm>
          <a:prstGeom prst="rect">
            <a:avLst/>
          </a:prstGeom>
          <a:noFill/>
        </p:spPr>
        <p:txBody>
          <a:bodyPr wrap="square">
            <a:spAutoFit/>
          </a:bodyPr>
          <a:lstStyle/>
          <a:p>
            <a:pPr>
              <a:defRPr sz="1100" b="1">
                <a:solidFill>
                  <a:srgbClr val="00A896"/>
                </a:solidFill>
                <a:latin typeface="Arial"/>
              </a:defRPr>
            </a:pPr>
            <a:r>
              <a:t>NGUYÊN LÝ PHÁT MÃ HÓA KHÔNG GIAN – THỜI GIAN ALAMOUTI (1998)</a:t>
            </a:r>
          </a:p>
          <a:p>
            <a:pPr>
              <a:defRPr sz="1050">
                <a:solidFill>
                  <a:srgbClr val="1E293B"/>
                </a:solidFill>
                <a:latin typeface="Arial"/>
              </a:defRPr>
            </a:pPr>
            <a:r>
              <a:t>• Phát 2 ký hiệu phức s0, s1 qua 2 anten phát trên 2 khe thời gian liên tiếp. Tốc độ mã hóa đạt R = 1 ký hiệu / khe (Full rate).</a:t>
            </a:r>
            <a:br/>
            <a:r>
              <a:t>• Khối phát hoàn toàn không cần biết trước thông tin kênh truyền (CSIT-free), chỉ cần CSIR tại khối thu.</a:t>
            </a:r>
          </a:p>
        </p:txBody>
      </p:sp>
      <p:sp>
        <p:nvSpPr>
          <p:cNvPr id="9" name="Rectangle 8"/>
          <p:cNvSpPr/>
          <p:nvPr/>
        </p:nvSpPr>
        <p:spPr>
          <a:xfrm>
            <a:off x="731520" y="2560320"/>
            <a:ext cx="5212080"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56032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CẤU TRÚC MA TRẬN MÃ HÓA S</a:t>
            </a:r>
          </a:p>
        </p:txBody>
      </p:sp>
      <p:sp>
        <p:nvSpPr>
          <p:cNvPr id="11" name="TextBox 10"/>
          <p:cNvSpPr txBox="1"/>
          <p:nvPr/>
        </p:nvSpPr>
        <p:spPr>
          <a:xfrm>
            <a:off x="822960" y="3017520"/>
            <a:ext cx="5029200" cy="3017520"/>
          </a:xfrm>
          <a:prstGeom prst="rect">
            <a:avLst/>
          </a:prstGeom>
          <a:noFill/>
        </p:spPr>
        <p:txBody>
          <a:bodyPr wrap="square">
            <a:spAutoFit/>
          </a:bodyPr>
          <a:lstStyle/>
          <a:p>
            <a:pPr>
              <a:spcAft>
                <a:spcPts val="700"/>
              </a:spcAft>
              <a:defRPr sz="1100">
                <a:solidFill>
                  <a:srgbClr val="1E293B"/>
                </a:solidFill>
                <a:latin typeface="Arial"/>
              </a:defRPr>
            </a:pPr>
            <a:r>
              <a:t>•  Ma trận phát Alamouti: S = [ s0  -s1* ;  s1   s0* ]</a:t>
            </a:r>
          </a:p>
          <a:p>
            <a:pPr>
              <a:spcAft>
                <a:spcPts val="700"/>
              </a:spcAft>
              <a:defRPr sz="1100">
                <a:solidFill>
                  <a:srgbClr val="1E293B"/>
                </a:solidFill>
                <a:latin typeface="Arial"/>
              </a:defRPr>
            </a:pPr>
            <a:r>
              <a:t>•  Khe thời gian t (Cột 1): Anten Tx1 phát s0, Anten Tx2 phát s1.</a:t>
            </a:r>
          </a:p>
          <a:p>
            <a:pPr>
              <a:spcAft>
                <a:spcPts val="700"/>
              </a:spcAft>
              <a:defRPr sz="1100">
                <a:solidFill>
                  <a:srgbClr val="1E293B"/>
                </a:solidFill>
                <a:latin typeface="Arial"/>
              </a:defRPr>
            </a:pPr>
            <a:r>
              <a:t>•  Khe thời gian t+Ts (Cột 2): Anten Tx1 phát -s1*, Anten Tx2 phát s0*.</a:t>
            </a:r>
          </a:p>
          <a:p>
            <a:pPr>
              <a:spcAft>
                <a:spcPts val="700"/>
              </a:spcAft>
              <a:defRPr sz="1100">
                <a:solidFill>
                  <a:srgbClr val="1E293B"/>
                </a:solidFill>
                <a:latin typeface="Arial"/>
              </a:defRPr>
            </a:pPr>
            <a:r>
              <a:t>•  Ràng buộc năng lượng: Mỗi anten phát công suất trung bình P_t/2 để tổng công suất phát bằng P_t như hệ thống SISO.</a:t>
            </a:r>
          </a:p>
          <a:p>
            <a:pPr>
              <a:spcAft>
                <a:spcPts val="700"/>
              </a:spcAft>
              <a:defRPr sz="1100">
                <a:solidFill>
                  <a:srgbClr val="1E293B"/>
                </a:solidFill>
                <a:latin typeface="Arial"/>
              </a:defRPr>
            </a:pPr>
            <a:r>
              <a:t>•  Không suy giảm tốc độ: Truyền trọn vẹn 2 ký hiệu trong 2 khe thời gian, tốc độ tương đương hệ thống anten đơn.</a:t>
            </a:r>
          </a:p>
        </p:txBody>
      </p:sp>
      <p:sp>
        <p:nvSpPr>
          <p:cNvPr id="12" name="Rectangle 11"/>
          <p:cNvSpPr/>
          <p:nvPr/>
        </p:nvSpPr>
        <p:spPr>
          <a:xfrm>
            <a:off x="6248095" y="2560320"/>
            <a:ext cx="5212080" cy="36576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8095" y="256032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TÍNH TRỰC GIAO TUYỆT ĐỐI &amp; ĐỘ LỢI</a:t>
            </a:r>
          </a:p>
        </p:txBody>
      </p:sp>
      <p:sp>
        <p:nvSpPr>
          <p:cNvPr id="14" name="TextBox 13"/>
          <p:cNvSpPr txBox="1"/>
          <p:nvPr/>
        </p:nvSpPr>
        <p:spPr>
          <a:xfrm>
            <a:off x="6339535" y="3017520"/>
            <a:ext cx="5029200" cy="3017520"/>
          </a:xfrm>
          <a:prstGeom prst="rect">
            <a:avLst/>
          </a:prstGeom>
          <a:noFill/>
        </p:spPr>
        <p:txBody>
          <a:bodyPr wrap="square">
            <a:spAutoFit/>
          </a:bodyPr>
          <a:lstStyle/>
          <a:p>
            <a:pPr>
              <a:spcAft>
                <a:spcPts val="700"/>
              </a:spcAft>
              <a:defRPr sz="1100">
                <a:solidFill>
                  <a:srgbClr val="1E293B"/>
                </a:solidFill>
                <a:latin typeface="Arial"/>
              </a:defRPr>
            </a:pPr>
            <a:r>
              <a:t>•  Trực giao giữa hai cột của ma trận phát S:</a:t>
            </a:r>
            <a:br/>
            <a:r>
              <a:t>  &lt;col1, col2&gt; = s0(-s1*)* + s1(s0*)* = -s0 s1 + s1 s0 = 0</a:t>
            </a:r>
          </a:p>
          <a:p>
            <a:pPr>
              <a:spcAft>
                <a:spcPts val="700"/>
              </a:spcAft>
              <a:defRPr sz="1100">
                <a:solidFill>
                  <a:srgbClr val="1E293B"/>
                </a:solidFill>
                <a:latin typeface="Arial"/>
              </a:defRPr>
            </a:pPr>
            <a:r>
              <a:t>•  Quan hệ Gram trực giao:</a:t>
            </a:r>
            <a:br/>
            <a:r>
              <a:t>  S S^H = (|s0|^2 + |s1|^2) I_2</a:t>
            </a:r>
          </a:p>
          <a:p>
            <a:pPr>
              <a:spcAft>
                <a:spcPts val="700"/>
              </a:spcAft>
              <a:defRPr sz="1100">
                <a:solidFill>
                  <a:srgbClr val="1E293B"/>
                </a:solidFill>
                <a:latin typeface="Arial"/>
              </a:defRPr>
            </a:pPr>
            <a:r>
              <a:t>•  Bậc phân tập cực đại: Đạt bậc d = Nt * Nr = 2 * 2 = 4 khi kết hợp 2 anten thu.</a:t>
            </a:r>
          </a:p>
          <a:p>
            <a:pPr>
              <a:spcAft>
                <a:spcPts val="700"/>
              </a:spcAft>
              <a:defRPr sz="1100">
                <a:solidFill>
                  <a:srgbClr val="1E293B"/>
                </a:solidFill>
                <a:latin typeface="Arial"/>
              </a:defRPr>
            </a:pPr>
            <a:r>
              <a:t>•  Giải mã vô hướng đơn giản: Bộ thu chỉ cần thực hiện các phép nhân tuyến tính ma trận để tách độc lập từng ký hiệu, triệt tiêu hoàn toàn can nhiễu đa anten mà không cần đảo ma trận.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STBC</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Tính toán Lý thuyết Số học Chi tiết Tín hiệu Nhận r0, r1, r2, r3</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6 / 21</a:t>
            </a:r>
          </a:p>
        </p:txBody>
      </p:sp>
      <p:sp>
        <p:nvSpPr>
          <p:cNvPr id="7" name="Rectangle 6"/>
          <p:cNvSpPr/>
          <p:nvPr/>
        </p:nvSpPr>
        <p:spPr>
          <a:xfrm>
            <a:off x="731520" y="1325880"/>
            <a:ext cx="10728655" cy="640080"/>
          </a:xfrm>
          <a:prstGeom prst="rect">
            <a:avLst/>
          </a:prstGeom>
          <a:solidFill>
            <a:srgbClr val="FFFFFF"/>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371600"/>
            <a:ext cx="10545775" cy="548640"/>
          </a:xfrm>
          <a:prstGeom prst="rect">
            <a:avLst/>
          </a:prstGeom>
          <a:noFill/>
        </p:spPr>
        <p:txBody>
          <a:bodyPr wrap="none">
            <a:spAutoFit/>
          </a:bodyPr>
          <a:lstStyle/>
          <a:p>
            <a:pPr algn="ctr">
              <a:defRPr sz="1200" b="1">
                <a:solidFill>
                  <a:srgbClr val="002B49"/>
                </a:solidFill>
                <a:latin typeface="Arial"/>
              </a:defRPr>
            </a:pPr>
            <a:r>
              <a:t>Đầu vào kiểm chứng:  s0 = 1 + 1j,  s1 = 1 - 1j   ⇒   s0* = 1 - 1j,  s1* = 1 + 1j   (Kênh H = [0.7 0.3; 0.4 0.6])</a:t>
            </a:r>
          </a:p>
        </p:txBody>
      </p:sp>
      <p:sp>
        <p:nvSpPr>
          <p:cNvPr id="9" name="Rectangle 8"/>
          <p:cNvSpPr/>
          <p:nvPr/>
        </p:nvSpPr>
        <p:spPr>
          <a:xfrm>
            <a:off x="731520" y="2103120"/>
            <a:ext cx="5212080" cy="1920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10312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ANTEN RX1 — KHE THỜI GIAN 1 (R0)</a:t>
            </a:r>
          </a:p>
        </p:txBody>
      </p:sp>
      <p:sp>
        <p:nvSpPr>
          <p:cNvPr id="11" name="TextBox 10"/>
          <p:cNvSpPr txBox="1"/>
          <p:nvPr/>
        </p:nvSpPr>
        <p:spPr>
          <a:xfrm>
            <a:off x="822960" y="2514600"/>
            <a:ext cx="5029200" cy="1371600"/>
          </a:xfrm>
          <a:prstGeom prst="rect">
            <a:avLst/>
          </a:prstGeom>
          <a:noFill/>
        </p:spPr>
        <p:txBody>
          <a:bodyPr wrap="square">
            <a:spAutoFit/>
          </a:bodyPr>
          <a:lstStyle/>
          <a:p>
            <a:pPr>
              <a:spcAft>
                <a:spcPts val="400"/>
              </a:spcAft>
              <a:defRPr sz="1050">
                <a:solidFill>
                  <a:srgbClr val="1E293B"/>
                </a:solidFill>
                <a:latin typeface="Arial"/>
              </a:defRPr>
            </a:pPr>
            <a:r>
              <a:t>•  Công thức: r0 = h11 s0 + h12 s1 + n0</a:t>
            </a:r>
          </a:p>
          <a:p>
            <a:pPr>
              <a:spcAft>
                <a:spcPts val="400"/>
              </a:spcAft>
              <a:defRPr sz="1050">
                <a:solidFill>
                  <a:srgbClr val="1E293B"/>
                </a:solidFill>
                <a:latin typeface="Arial"/>
              </a:defRPr>
            </a:pPr>
            <a:r>
              <a:t>•  Thay số: r0 = 0.7(1 + 1j) + 0.3(1 - 1j) = 0.7 + 0.7j + 0.3 - 0.3j</a:t>
            </a:r>
          </a:p>
          <a:p>
            <a:pPr>
              <a:spcAft>
                <a:spcPts val="400"/>
              </a:spcAft>
              <a:defRPr sz="1050">
                <a:solidFill>
                  <a:srgbClr val="1E293B"/>
                </a:solidFill>
                <a:latin typeface="Arial"/>
              </a:defRPr>
            </a:pPr>
            <a:r>
              <a:t>•  Kết quả lý thuyết: r0 = 1.0 + 0.4j</a:t>
            </a:r>
          </a:p>
        </p:txBody>
      </p:sp>
      <p:sp>
        <p:nvSpPr>
          <p:cNvPr id="12" name="Rectangle 11"/>
          <p:cNvSpPr/>
          <p:nvPr/>
        </p:nvSpPr>
        <p:spPr>
          <a:xfrm>
            <a:off x="6248095" y="2103120"/>
            <a:ext cx="5212080" cy="1920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8095" y="210312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ANTEN RX1 — KHE THỜI GIAN 2 (R1)</a:t>
            </a:r>
          </a:p>
        </p:txBody>
      </p:sp>
      <p:sp>
        <p:nvSpPr>
          <p:cNvPr id="14" name="TextBox 13"/>
          <p:cNvSpPr txBox="1"/>
          <p:nvPr/>
        </p:nvSpPr>
        <p:spPr>
          <a:xfrm>
            <a:off x="6339535" y="2514600"/>
            <a:ext cx="5029200" cy="1371600"/>
          </a:xfrm>
          <a:prstGeom prst="rect">
            <a:avLst/>
          </a:prstGeom>
          <a:noFill/>
        </p:spPr>
        <p:txBody>
          <a:bodyPr wrap="square">
            <a:spAutoFit/>
          </a:bodyPr>
          <a:lstStyle/>
          <a:p>
            <a:pPr>
              <a:spcAft>
                <a:spcPts val="400"/>
              </a:spcAft>
              <a:defRPr sz="1050">
                <a:solidFill>
                  <a:srgbClr val="1E293B"/>
                </a:solidFill>
                <a:latin typeface="Arial"/>
              </a:defRPr>
            </a:pPr>
            <a:r>
              <a:t>•  Công thức: r1 = -h11 s1* + h12 s0* + n1</a:t>
            </a:r>
          </a:p>
          <a:p>
            <a:pPr>
              <a:spcAft>
                <a:spcPts val="400"/>
              </a:spcAft>
              <a:defRPr sz="1050">
                <a:solidFill>
                  <a:srgbClr val="1E293B"/>
                </a:solidFill>
                <a:latin typeface="Arial"/>
              </a:defRPr>
            </a:pPr>
            <a:r>
              <a:t>•  Thay số: r1 = -0.7(1 + 1j) + 0.3(1 - 1j) = -0.7 - 0.7j + 0.3 - 0.3j</a:t>
            </a:r>
          </a:p>
          <a:p>
            <a:pPr>
              <a:spcAft>
                <a:spcPts val="400"/>
              </a:spcAft>
              <a:defRPr sz="1050">
                <a:solidFill>
                  <a:srgbClr val="1E293B"/>
                </a:solidFill>
                <a:latin typeface="Arial"/>
              </a:defRPr>
            </a:pPr>
            <a:r>
              <a:t>•  Kết quả lý thuyết: r1 = -0.4 - 1.0j   (Lấy liên hợp: r1* = -0.4 + 1.0j)</a:t>
            </a:r>
          </a:p>
        </p:txBody>
      </p:sp>
      <p:sp>
        <p:nvSpPr>
          <p:cNvPr id="15" name="Rectangle 14"/>
          <p:cNvSpPr/>
          <p:nvPr/>
        </p:nvSpPr>
        <p:spPr>
          <a:xfrm>
            <a:off x="731520" y="4206240"/>
            <a:ext cx="5212080" cy="1920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31520" y="420624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ANTEN RX2 — KHE THỜI GIAN 1 (R2)</a:t>
            </a:r>
          </a:p>
        </p:txBody>
      </p:sp>
      <p:sp>
        <p:nvSpPr>
          <p:cNvPr id="17" name="TextBox 16"/>
          <p:cNvSpPr txBox="1"/>
          <p:nvPr/>
        </p:nvSpPr>
        <p:spPr>
          <a:xfrm>
            <a:off x="822960" y="4617720"/>
            <a:ext cx="5029200" cy="1371600"/>
          </a:xfrm>
          <a:prstGeom prst="rect">
            <a:avLst/>
          </a:prstGeom>
          <a:noFill/>
        </p:spPr>
        <p:txBody>
          <a:bodyPr wrap="square">
            <a:spAutoFit/>
          </a:bodyPr>
          <a:lstStyle/>
          <a:p>
            <a:pPr>
              <a:spcAft>
                <a:spcPts val="400"/>
              </a:spcAft>
              <a:defRPr sz="1050">
                <a:solidFill>
                  <a:srgbClr val="1E293B"/>
                </a:solidFill>
                <a:latin typeface="Arial"/>
              </a:defRPr>
            </a:pPr>
            <a:r>
              <a:t>•  Công thức: r2 = h21 s0 + h22 s1 + n2</a:t>
            </a:r>
          </a:p>
          <a:p>
            <a:pPr>
              <a:spcAft>
                <a:spcPts val="400"/>
              </a:spcAft>
              <a:defRPr sz="1050">
                <a:solidFill>
                  <a:srgbClr val="1E293B"/>
                </a:solidFill>
                <a:latin typeface="Arial"/>
              </a:defRPr>
            </a:pPr>
            <a:r>
              <a:t>•  Thay số: r2 = 0.4(1 + 1j) + 0.6(1 - 1j) = 0.4 + 0.4j + 0.6 - 0.6j</a:t>
            </a:r>
          </a:p>
          <a:p>
            <a:pPr>
              <a:spcAft>
                <a:spcPts val="400"/>
              </a:spcAft>
              <a:defRPr sz="1050">
                <a:solidFill>
                  <a:srgbClr val="1E293B"/>
                </a:solidFill>
                <a:latin typeface="Arial"/>
              </a:defRPr>
            </a:pPr>
            <a:r>
              <a:t>•  Kết quả lý thuyết: r2 = 1.0 - 0.2j</a:t>
            </a:r>
          </a:p>
        </p:txBody>
      </p:sp>
      <p:sp>
        <p:nvSpPr>
          <p:cNvPr id="18" name="Rectangle 17"/>
          <p:cNvSpPr/>
          <p:nvPr/>
        </p:nvSpPr>
        <p:spPr>
          <a:xfrm>
            <a:off x="6248095" y="4206240"/>
            <a:ext cx="5212080" cy="192024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48095" y="4206240"/>
            <a:ext cx="5212080"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ANTEN RX2 — KHE THỜI GIAN 2 (R3)</a:t>
            </a:r>
          </a:p>
        </p:txBody>
      </p:sp>
      <p:sp>
        <p:nvSpPr>
          <p:cNvPr id="20" name="TextBox 19"/>
          <p:cNvSpPr txBox="1"/>
          <p:nvPr/>
        </p:nvSpPr>
        <p:spPr>
          <a:xfrm>
            <a:off x="6339535" y="4617720"/>
            <a:ext cx="5029200" cy="1371600"/>
          </a:xfrm>
          <a:prstGeom prst="rect">
            <a:avLst/>
          </a:prstGeom>
          <a:noFill/>
        </p:spPr>
        <p:txBody>
          <a:bodyPr wrap="square">
            <a:spAutoFit/>
          </a:bodyPr>
          <a:lstStyle/>
          <a:p>
            <a:pPr>
              <a:spcAft>
                <a:spcPts val="400"/>
              </a:spcAft>
              <a:defRPr sz="1050">
                <a:solidFill>
                  <a:srgbClr val="1E293B"/>
                </a:solidFill>
                <a:latin typeface="Arial"/>
              </a:defRPr>
            </a:pPr>
            <a:r>
              <a:t>•  Công thức: r3 = -h21 s1* + h22 s0* + n3</a:t>
            </a:r>
          </a:p>
          <a:p>
            <a:pPr>
              <a:spcAft>
                <a:spcPts val="400"/>
              </a:spcAft>
              <a:defRPr sz="1050">
                <a:solidFill>
                  <a:srgbClr val="1E293B"/>
                </a:solidFill>
                <a:latin typeface="Arial"/>
              </a:defRPr>
            </a:pPr>
            <a:r>
              <a:t>•  Thay số: r3 = -0.4(1 + 1j) + 0.6(1 - 1j) = -0.4 - 0.4j + 0.6 - 0.6j</a:t>
            </a:r>
          </a:p>
          <a:p>
            <a:pPr>
              <a:spcAft>
                <a:spcPts val="400"/>
              </a:spcAft>
              <a:defRPr sz="1050">
                <a:solidFill>
                  <a:srgbClr val="1E293B"/>
                </a:solidFill>
                <a:latin typeface="Arial"/>
              </a:defRPr>
            </a:pPr>
            <a:r>
              <a:t>•  Kết quả lý thuyết: r3 = 0.2 - 1.0j   (Lấy liên hợp: r3* = 0.2 + 1.0j)</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STBC</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Bộ Tách Tín hiệu STBC Alamouti &amp; Kiểm chứng Khôi phục Tín hiệu</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7 / 21</a:t>
            </a:r>
          </a:p>
        </p:txBody>
      </p:sp>
      <p:sp>
        <p:nvSpPr>
          <p:cNvPr id="7" name="Rectangle 6"/>
          <p:cNvSpPr/>
          <p:nvPr/>
        </p:nvSpPr>
        <p:spPr>
          <a:xfrm>
            <a:off x="731520" y="1371600"/>
            <a:ext cx="502920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02920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CHỨNG MINH TOÁN HỌC KHÔI PHỤC KÝ HIỆU</a:t>
            </a:r>
          </a:p>
        </p:txBody>
      </p:sp>
      <p:sp>
        <p:nvSpPr>
          <p:cNvPr id="9" name="TextBox 8"/>
          <p:cNvSpPr txBox="1"/>
          <p:nvPr/>
        </p:nvSpPr>
        <p:spPr>
          <a:xfrm>
            <a:off x="822960" y="1828800"/>
            <a:ext cx="4846320" cy="4206240"/>
          </a:xfrm>
          <a:prstGeom prst="rect">
            <a:avLst/>
          </a:prstGeom>
          <a:noFill/>
        </p:spPr>
        <p:txBody>
          <a:bodyPr wrap="square">
            <a:spAutoFit/>
          </a:bodyPr>
          <a:lstStyle/>
          <a:p>
            <a:pPr>
              <a:spcAft>
                <a:spcPts val="600"/>
              </a:spcAft>
              <a:defRPr sz="1000">
                <a:solidFill>
                  <a:srgbClr val="1E293B"/>
                </a:solidFill>
                <a:latin typeface="Arial"/>
              </a:defRPr>
            </a:pPr>
            <a:r>
              <a:t>•  Vector quan sát mở rộng: r_eff = [r0, r1*, r2, r3*]^T</a:t>
            </a:r>
          </a:p>
          <a:p>
            <a:pPr>
              <a:spcAft>
                <a:spcPts val="600"/>
              </a:spcAft>
              <a:defRPr sz="1000">
                <a:solidFill>
                  <a:srgbClr val="1E293B"/>
                </a:solidFill>
                <a:latin typeface="Arial"/>
              </a:defRPr>
            </a:pPr>
            <a:r>
              <a:t>•  Ma trận kênh hiệu dụng H_eff (kích thước 4x2):</a:t>
            </a:r>
            <a:br/>
            <a:r>
              <a:t>  H_eff = [0.7 0.3; 0.3 -0.7; 0.4 0.6; 0.6 -0.4]</a:t>
            </a:r>
          </a:p>
          <a:p>
            <a:pPr>
              <a:spcAft>
                <a:spcPts val="600"/>
              </a:spcAft>
              <a:defRPr sz="1000">
                <a:solidFill>
                  <a:srgbClr val="1E293B"/>
                </a:solidFill>
                <a:latin typeface="Arial"/>
              </a:defRPr>
            </a:pPr>
            <a:r>
              <a:t>•  Kiểm tra tính trực giao hoàn hảo:</a:t>
            </a:r>
            <a:br/>
            <a:r>
              <a:t>  H_eff^H H_eff = [1.10  0 ;  0  1.10] = ||H||_F^2 I_2</a:t>
            </a:r>
          </a:p>
          <a:p>
            <a:pPr>
              <a:spcAft>
                <a:spcPts val="600"/>
              </a:spcAft>
              <a:defRPr sz="1000">
                <a:solidFill>
                  <a:srgbClr val="1E293B"/>
                </a:solidFill>
                <a:latin typeface="Arial"/>
              </a:defRPr>
            </a:pPr>
            <a:r>
              <a:t>•  Tín hiệu ngõ ra bộ kết hợp z_tilde = H_eff^H r_eff:</a:t>
            </a:r>
            <a:br/>
            <a:r>
              <a:t>  z0 = 0.7(1.0+0.4j) + 0.3(-0.4+1.0j) + 0.4(1.0-0.2j) + 0.6(0.2+1.0j) = 1.10 + 1.10j</a:t>
            </a:r>
            <a:br/>
            <a:r>
              <a:t>  z1 = 0.3(1.0+0.4j) - 0.7(-0.4+1.0j) + 0.6(1.0-0.2j) - 0.4(0.2+1.0j) = 1.10 - 1.10j</a:t>
            </a:r>
          </a:p>
          <a:p>
            <a:pPr>
              <a:spcAft>
                <a:spcPts val="600"/>
              </a:spcAft>
              <a:defRPr sz="1000">
                <a:solidFill>
                  <a:srgbClr val="1E293B"/>
                </a:solidFill>
                <a:latin typeface="Arial"/>
              </a:defRPr>
            </a:pPr>
            <a:r>
              <a:t>•  Khôi phục bằng chuẩn hóa ||H||_F^2 = 1.10:</a:t>
            </a:r>
            <a:br/>
            <a:r>
              <a:t>  s0_hat = z0 / 1.10 = 1.0 + 1.0j = s0</a:t>
            </a:r>
            <a:br/>
            <a:r>
              <a:t>  s1_hat = z1 / 1.10 = 1.0 - 1.0j = s1</a:t>
            </a:r>
          </a:p>
          <a:p>
            <a:pPr>
              <a:spcAft>
                <a:spcPts val="600"/>
              </a:spcAft>
              <a:defRPr sz="1000">
                <a:solidFill>
                  <a:srgbClr val="1E293B"/>
                </a:solidFill>
                <a:latin typeface="Arial"/>
              </a:defRPr>
            </a:pPr>
            <a:r>
              <a:t>•  Sai số số học thực tế máy tính:</a:t>
            </a:r>
            <a:br/>
            <a:r>
              <a:t>  |s0_hat - s0| = 1.11e-16,   |s1_hat - s1| = 1.11e-16 (Tuyệt đối)</a:t>
            </a:r>
          </a:p>
        </p:txBody>
      </p:sp>
      <p:sp>
        <p:nvSpPr>
          <p:cNvPr id="10" name="Rectangle 9"/>
          <p:cNvSpPr/>
          <p:nvPr/>
        </p:nvSpPr>
        <p:spPr>
          <a:xfrm>
            <a:off x="6035040" y="1371600"/>
            <a:ext cx="542513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71600"/>
            <a:ext cx="542513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HÌNH ẢNH MÔ PHỎNG CHÒM SAO TÍN HIỆU</a:t>
            </a:r>
          </a:p>
        </p:txBody>
      </p:sp>
      <p:pic>
        <p:nvPicPr>
          <p:cNvPr id="12" name="Picture 11" descr="fig1_stbc_signal_recovery.png"/>
          <p:cNvPicPr>
            <a:picLocks noChangeAspect="1"/>
          </p:cNvPicPr>
          <p:nvPr/>
        </p:nvPicPr>
        <p:blipFill>
          <a:blip r:embed="rId2"/>
          <a:stretch>
            <a:fillRect/>
          </a:stretch>
        </p:blipFill>
        <p:spPr>
          <a:xfrm>
            <a:off x="6172200" y="2011680"/>
            <a:ext cx="5150815" cy="2207492"/>
          </a:xfrm>
          <a:prstGeom prst="rect">
            <a:avLst/>
          </a:prstGeom>
        </p:spPr>
      </p:pic>
      <p:sp>
        <p:nvSpPr>
          <p:cNvPr id="13" name="TextBox 12"/>
          <p:cNvSpPr txBox="1"/>
          <p:nvPr/>
        </p:nvSpPr>
        <p:spPr>
          <a:xfrm>
            <a:off x="6172200" y="5394960"/>
            <a:ext cx="5150815" cy="640080"/>
          </a:xfrm>
          <a:prstGeom prst="rect">
            <a:avLst/>
          </a:prstGeom>
          <a:noFill/>
        </p:spPr>
        <p:txBody>
          <a:bodyPr wrap="square">
            <a:spAutoFit/>
          </a:bodyPr>
          <a:lstStyle/>
          <a:p>
            <a:pPr algn="ctr">
              <a:defRPr sz="950">
                <a:solidFill>
                  <a:srgbClr val="64748B"/>
                </a:solidFill>
                <a:latin typeface="Arial"/>
              </a:defRPr>
            </a:pPr>
            <a:r>
              <a:t>Hình 2.1: Quá trình khôi phục ký hiệu và chòm sao tín hiệu STBC Alamouti (Sai số máy tính = 1.11 x 10^-16).</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SDM</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Kỹ thuật Ghép kênh Không gian SDM: Nguyên lý và Tách sóng</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8 / 21</a:t>
            </a:r>
          </a:p>
        </p:txBody>
      </p:sp>
      <p:sp>
        <p:nvSpPr>
          <p:cNvPr id="7" name="Rectangle 6"/>
          <p:cNvSpPr/>
          <p:nvPr/>
        </p:nvSpPr>
        <p:spPr>
          <a:xfrm>
            <a:off x="731520" y="1371600"/>
            <a:ext cx="10728655" cy="914400"/>
          </a:xfrm>
          <a:prstGeom prst="rect">
            <a:avLst/>
          </a:prstGeom>
          <a:solidFill>
            <a:srgbClr val="FFFFFF"/>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545775" cy="822960"/>
          </a:xfrm>
          <a:prstGeom prst="rect">
            <a:avLst/>
          </a:prstGeom>
          <a:noFill/>
        </p:spPr>
        <p:txBody>
          <a:bodyPr wrap="square">
            <a:spAutoFit/>
          </a:bodyPr>
          <a:lstStyle/>
          <a:p>
            <a:pPr>
              <a:defRPr sz="1100" b="1">
                <a:solidFill>
                  <a:srgbClr val="00A896"/>
                </a:solidFill>
                <a:latin typeface="Arial"/>
              </a:defRPr>
            </a:pPr>
            <a:r>
              <a:t>NGUYÊN LÝ GHÉP KÊNH PHÂN CHIA THEO KHÔNG GIAN (SPATIAL DIVISION MULTIPLEXING)</a:t>
            </a:r>
          </a:p>
          <a:p>
            <a:pPr>
              <a:defRPr sz="1000">
                <a:solidFill>
                  <a:srgbClr val="1E293B"/>
                </a:solidFill>
                <a:latin typeface="Arial"/>
              </a:defRPr>
            </a:pPr>
            <a:r>
              <a:t>• Phát đồng thời 2 luồng dữ liệu độc lập x = [s0, s1]^T trên cùng dải tần số. Nâng tốc độ truyền lên gấp 2 lần mà không cần mở rộng băng thông.</a:t>
            </a:r>
            <a:br/>
            <a:r>
              <a:t>• Tín hiệu nhận tại 2 anten thu (chưa nhiễu): y = H x = [0.7 0.3; 0.4 0.6] [1+1j; 1-1j]^T = [1.0 + 0.4j; 1.0 - 0.2j]^T.</a:t>
            </a:r>
          </a:p>
        </p:txBody>
      </p:sp>
      <p:sp>
        <p:nvSpPr>
          <p:cNvPr id="9" name="Rectangle 8"/>
          <p:cNvSpPr/>
          <p:nvPr/>
        </p:nvSpPr>
        <p:spPr>
          <a:xfrm>
            <a:off x="731520" y="2468880"/>
            <a:ext cx="3383280" cy="374903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468880"/>
            <a:ext cx="3383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1. ZERO-FORCING (ZF)</a:t>
            </a:r>
          </a:p>
        </p:txBody>
      </p:sp>
      <p:sp>
        <p:nvSpPr>
          <p:cNvPr id="11" name="TextBox 10"/>
          <p:cNvSpPr txBox="1"/>
          <p:nvPr/>
        </p:nvSpPr>
        <p:spPr>
          <a:xfrm>
            <a:off x="822960" y="2926080"/>
            <a:ext cx="3200400" cy="3108960"/>
          </a:xfrm>
          <a:prstGeom prst="rect">
            <a:avLst/>
          </a:prstGeom>
          <a:noFill/>
        </p:spPr>
        <p:txBody>
          <a:bodyPr wrap="square">
            <a:spAutoFit/>
          </a:bodyPr>
          <a:lstStyle/>
          <a:p>
            <a:pPr>
              <a:spcAft>
                <a:spcPts val="600"/>
              </a:spcAft>
              <a:defRPr sz="1050">
                <a:solidFill>
                  <a:srgbClr val="1E293B"/>
                </a:solidFill>
                <a:latin typeface="Arial"/>
              </a:defRPr>
            </a:pPr>
            <a:r>
              <a:t>•  Ma trận cân bằng: W_zf = H^-1 = (H^H H)^-1 H^H</a:t>
            </a:r>
          </a:p>
          <a:p>
            <a:pPr>
              <a:spcAft>
                <a:spcPts val="600"/>
              </a:spcAft>
              <a:defRPr sz="1050">
                <a:solidFill>
                  <a:srgbClr val="1E293B"/>
                </a:solidFill>
                <a:latin typeface="Arial"/>
              </a:defRPr>
            </a:pPr>
            <a:r>
              <a:t>•  Triệt tiêu can nhiễu: W_zf H = I_2, tách biệt hoàn toàn 2 luồng tín hiệu phát.</a:t>
            </a:r>
          </a:p>
          <a:p>
            <a:pPr>
              <a:spcAft>
                <a:spcPts val="600"/>
              </a:spcAft>
              <a:defRPr sz="1050">
                <a:solidFill>
                  <a:srgbClr val="1E293B"/>
                </a:solidFill>
                <a:latin typeface="Arial"/>
              </a:defRPr>
            </a:pPr>
            <a:r>
              <a:t>•  Ưu điểm: Thuật toán đơn giản, không cần biết trước tỷ số tín hiệu trên nhiễu (SNR).</a:t>
            </a:r>
          </a:p>
          <a:p>
            <a:pPr>
              <a:spcAft>
                <a:spcPts val="600"/>
              </a:spcAft>
              <a:defRPr sz="1050">
                <a:solidFill>
                  <a:srgbClr val="1E293B"/>
                </a:solidFill>
                <a:latin typeface="Arial"/>
              </a:defRPr>
            </a:pPr>
            <a:r>
              <a:t>•  Nhược điểm: Gây khuếch đại tạp âm lớn ở các kênh con có giá trị kỳ dị bé.</a:t>
            </a:r>
          </a:p>
        </p:txBody>
      </p:sp>
      <p:sp>
        <p:nvSpPr>
          <p:cNvPr id="12" name="Rectangle 11"/>
          <p:cNvSpPr/>
          <p:nvPr/>
        </p:nvSpPr>
        <p:spPr>
          <a:xfrm>
            <a:off x="4403750" y="2468880"/>
            <a:ext cx="3383280" cy="374903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403750" y="2468880"/>
            <a:ext cx="33832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2. CÂN BẰNG MMSE</a:t>
            </a:r>
          </a:p>
        </p:txBody>
      </p:sp>
      <p:sp>
        <p:nvSpPr>
          <p:cNvPr id="14" name="TextBox 13"/>
          <p:cNvSpPr txBox="1"/>
          <p:nvPr/>
        </p:nvSpPr>
        <p:spPr>
          <a:xfrm>
            <a:off x="4495190" y="2926080"/>
            <a:ext cx="3200400" cy="3108960"/>
          </a:xfrm>
          <a:prstGeom prst="rect">
            <a:avLst/>
          </a:prstGeom>
          <a:noFill/>
        </p:spPr>
        <p:txBody>
          <a:bodyPr wrap="square">
            <a:spAutoFit/>
          </a:bodyPr>
          <a:lstStyle/>
          <a:p>
            <a:pPr>
              <a:spcAft>
                <a:spcPts val="600"/>
              </a:spcAft>
              <a:defRPr sz="1050">
                <a:solidFill>
                  <a:srgbClr val="1E293B"/>
                </a:solidFill>
                <a:latin typeface="Arial"/>
              </a:defRPr>
            </a:pPr>
            <a:r>
              <a:t>•  Ma trận cân bằng: W_mmse = (H^H H + σ_n^2 I)^-1 H^H</a:t>
            </a:r>
          </a:p>
          <a:p>
            <a:pPr>
              <a:spcAft>
                <a:spcPts val="600"/>
              </a:spcAft>
              <a:defRPr sz="1050">
                <a:solidFill>
                  <a:srgbClr val="1E293B"/>
                </a:solidFill>
                <a:latin typeface="Arial"/>
              </a:defRPr>
            </a:pPr>
            <a:r>
              <a:t>•  Tối ưu hóa Wiener: Giảm thiểu sai số toàn phương trung bình E[||x_hat - x||^2].</a:t>
            </a:r>
          </a:p>
          <a:p>
            <a:pPr>
              <a:spcAft>
                <a:spcPts val="600"/>
              </a:spcAft>
              <a:defRPr sz="1050">
                <a:solidFill>
                  <a:srgbClr val="1E293B"/>
                </a:solidFill>
                <a:latin typeface="Arial"/>
              </a:defRPr>
            </a:pPr>
            <a:r>
              <a:t>•  Cân bằng thông minh: Chấp nhận một lượng can nhiễu dư nhỏ để kìm hãm sự bùng nổ của tạp âm ở SNR thấp.</a:t>
            </a:r>
          </a:p>
          <a:p>
            <a:pPr>
              <a:spcAft>
                <a:spcPts val="600"/>
              </a:spcAft>
              <a:defRPr sz="1050">
                <a:solidFill>
                  <a:srgbClr val="1E293B"/>
                </a:solidFill>
                <a:latin typeface="Arial"/>
              </a:defRPr>
            </a:pPr>
            <a:r>
              <a:t>•  Tiệm cận: Khi SNR cao (σ_n^2 → 0), MMSE hội tụ hoàn toàn về bộ tách sóng ZF.</a:t>
            </a:r>
          </a:p>
        </p:txBody>
      </p:sp>
      <p:sp>
        <p:nvSpPr>
          <p:cNvPr id="15" name="Rectangle 14"/>
          <p:cNvSpPr/>
          <p:nvPr/>
        </p:nvSpPr>
        <p:spPr>
          <a:xfrm>
            <a:off x="8076895" y="2468880"/>
            <a:ext cx="3383280" cy="374903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76895" y="2468880"/>
            <a:ext cx="3383280"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3. TIỀN MÃ HÓA SVD</a:t>
            </a:r>
          </a:p>
        </p:txBody>
      </p:sp>
      <p:sp>
        <p:nvSpPr>
          <p:cNvPr id="17" name="TextBox 16"/>
          <p:cNvSpPr txBox="1"/>
          <p:nvPr/>
        </p:nvSpPr>
        <p:spPr>
          <a:xfrm>
            <a:off x="8168335" y="2926080"/>
            <a:ext cx="3200400" cy="3108960"/>
          </a:xfrm>
          <a:prstGeom prst="rect">
            <a:avLst/>
          </a:prstGeom>
          <a:noFill/>
        </p:spPr>
        <p:txBody>
          <a:bodyPr wrap="square">
            <a:spAutoFit/>
          </a:bodyPr>
          <a:lstStyle/>
          <a:p>
            <a:pPr>
              <a:spcAft>
                <a:spcPts val="600"/>
              </a:spcAft>
              <a:defRPr sz="1050">
                <a:solidFill>
                  <a:srgbClr val="1E293B"/>
                </a:solidFill>
                <a:latin typeface="Arial"/>
              </a:defRPr>
            </a:pPr>
            <a:r>
              <a:t>•  Phân rã kênh: H = U Σ V^H</a:t>
            </a:r>
          </a:p>
          <a:p>
            <a:pPr>
              <a:spcAft>
                <a:spcPts val="600"/>
              </a:spcAft>
              <a:defRPr sz="1050">
                <a:solidFill>
                  <a:srgbClr val="1E293B"/>
                </a:solidFill>
                <a:latin typeface="Arial"/>
              </a:defRPr>
            </a:pPr>
            <a:r>
              <a:t>•  Phát tiền mã hóa: x_tx = V x</a:t>
            </a:r>
          </a:p>
          <a:p>
            <a:pPr>
              <a:spcAft>
                <a:spcPts val="600"/>
              </a:spcAft>
              <a:defRPr sz="1050">
                <a:solidFill>
                  <a:srgbClr val="1E293B"/>
                </a:solidFill>
                <a:latin typeface="Arial"/>
              </a:defRPr>
            </a:pPr>
            <a:r>
              <a:t>•  Thu lọc không gian: y_tilde = U^H y = Σ x + n_tilde</a:t>
            </a:r>
          </a:p>
          <a:p>
            <a:pPr>
              <a:spcAft>
                <a:spcPts val="600"/>
              </a:spcAft>
              <a:defRPr sz="1050">
                <a:solidFill>
                  <a:srgbClr val="1E293B"/>
                </a:solidFill>
                <a:latin typeface="Arial"/>
              </a:defRPr>
            </a:pPr>
            <a:r>
              <a:t>•  Kênh trực giao song song: Chuyển đổi thành 2 kênh con độc lập tuyệt đối.</a:t>
            </a:r>
          </a:p>
          <a:p>
            <a:pPr>
              <a:spcAft>
                <a:spcPts val="600"/>
              </a:spcAft>
              <a:defRPr sz="1050">
                <a:solidFill>
                  <a:srgbClr val="1E293B"/>
                </a:solidFill>
                <a:latin typeface="Arial"/>
              </a:defRPr>
            </a:pPr>
            <a:r>
              <a:t>•  Ưu thế vượt trội: Hoàn toàn không gây khuếch đại tạp âm, song đòi hỏi cả CSIT và CSIR.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SDM</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Tách sóng SDM Zero-Forcing: Khôi phục Tín hiệu &amp; Khuếch đại Nhiễu</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9 / 21</a:t>
            </a:r>
          </a:p>
        </p:txBody>
      </p:sp>
      <p:sp>
        <p:nvSpPr>
          <p:cNvPr id="7" name="Rectangle 6"/>
          <p:cNvSpPr/>
          <p:nvPr/>
        </p:nvSpPr>
        <p:spPr>
          <a:xfrm>
            <a:off x="731520"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GIẢI THUẬT TÁCH SÓNG ZF &amp; KHÔI PHỤC</a:t>
            </a:r>
          </a:p>
        </p:txBody>
      </p:sp>
      <p:sp>
        <p:nvSpPr>
          <p:cNvPr id="9" name="TextBox 8"/>
          <p:cNvSpPr txBox="1"/>
          <p:nvPr/>
        </p:nvSpPr>
        <p:spPr>
          <a:xfrm>
            <a:off x="822960" y="1828800"/>
            <a:ext cx="5029200" cy="4206240"/>
          </a:xfrm>
          <a:prstGeom prst="rect">
            <a:avLst/>
          </a:prstGeom>
          <a:noFill/>
        </p:spPr>
        <p:txBody>
          <a:bodyPr wrap="square">
            <a:spAutoFit/>
          </a:bodyPr>
          <a:lstStyle/>
          <a:p>
            <a:pPr>
              <a:spcAft>
                <a:spcPts val="700"/>
              </a:spcAft>
              <a:defRPr sz="1050">
                <a:solidFill>
                  <a:srgbClr val="1E293B"/>
                </a:solidFill>
                <a:latin typeface="Arial"/>
              </a:defRPr>
            </a:pPr>
            <a:r>
              <a:t>•  Vì det(H) = 0.30 ≠ 0, ma trận nghịch đảo giải tích là:</a:t>
            </a:r>
            <a:br/>
            <a:r>
              <a:t>  W_zf = H^-1 = (1 / 0.30) [0.6 -0.3 ; -0.4 0.7] = [2.0 -1.0 ; -1.3333 2.3333]</a:t>
            </a:r>
          </a:p>
          <a:p>
            <a:pPr>
              <a:spcAft>
                <a:spcPts val="700"/>
              </a:spcAft>
              <a:defRPr sz="1050">
                <a:solidFill>
                  <a:srgbClr val="1E293B"/>
                </a:solidFill>
                <a:latin typeface="Arial"/>
              </a:defRPr>
            </a:pPr>
            <a:r>
              <a:t>•  Tín hiệu ước lượng sau tách sóng x_hat = W_zf y:</a:t>
            </a:r>
            <a:br/>
            <a:r>
              <a:t>  x_hat = [2.0 -1.0 ; -1.3333 2.3333] [1.0 + 0.4j ; 1.0 - 0.2j]^T</a:t>
            </a:r>
          </a:p>
          <a:p>
            <a:pPr>
              <a:spcAft>
                <a:spcPts val="700"/>
              </a:spcAft>
              <a:defRPr sz="1050">
                <a:solidFill>
                  <a:srgbClr val="1E293B"/>
                </a:solidFill>
                <a:latin typeface="Arial"/>
              </a:defRPr>
            </a:pPr>
            <a:r>
              <a:t>•  Tính toán chi tiết từng luồng dữ liệu:</a:t>
            </a:r>
            <a:br/>
            <a:r>
              <a:t>  x0_hat = 2.0(1.0 + 0.4j) - 1.0(1.0 - 0.2j) = 1.0 + 1.0j = s0</a:t>
            </a:r>
            <a:br/>
            <a:r>
              <a:t>  x1_hat = -1.3333(1.0 + 0.4j) + 2.3333(1.0 - 0.2j) = 1.0 - 1.0j = s1</a:t>
            </a:r>
          </a:p>
          <a:p>
            <a:pPr>
              <a:spcAft>
                <a:spcPts val="700"/>
              </a:spcAft>
              <a:defRPr sz="1050">
                <a:solidFill>
                  <a:srgbClr val="1E293B"/>
                </a:solidFill>
                <a:latin typeface="Arial"/>
              </a:defRPr>
            </a:pPr>
            <a:r>
              <a:t>•  Sai số khôi phục số học máy tính:</a:t>
            </a:r>
            <a:br/>
            <a:r>
              <a:t>  ||x_hat - x||_2 = 1.05e-15 (Khôi phục chính xác tuyệt đối không nhiễu).</a:t>
            </a:r>
          </a:p>
        </p:txBody>
      </p:sp>
      <p:sp>
        <p:nvSpPr>
          <p:cNvPr id="10" name="Rectangle 9"/>
          <p:cNvSpPr/>
          <p:nvPr/>
        </p:nvSpPr>
        <p:spPr>
          <a:xfrm>
            <a:off x="6248095"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BẢN CHẤT HIỆN TƯỢNG KHUẾCH ĐẠI NHIỄU</a:t>
            </a:r>
          </a:p>
        </p:txBody>
      </p:sp>
      <p:sp>
        <p:nvSpPr>
          <p:cNvPr id="12" name="TextBox 11"/>
          <p:cNvSpPr txBox="1"/>
          <p:nvPr/>
        </p:nvSpPr>
        <p:spPr>
          <a:xfrm>
            <a:off x="6339535" y="1828800"/>
            <a:ext cx="5029200" cy="4206240"/>
          </a:xfrm>
          <a:prstGeom prst="rect">
            <a:avLst/>
          </a:prstGeom>
          <a:noFill/>
        </p:spPr>
        <p:txBody>
          <a:bodyPr wrap="square">
            <a:spAutoFit/>
          </a:bodyPr>
          <a:lstStyle/>
          <a:p>
            <a:pPr>
              <a:spcAft>
                <a:spcPts val="700"/>
              </a:spcAft>
              <a:defRPr sz="1050">
                <a:solidFill>
                  <a:srgbClr val="1E293B"/>
                </a:solidFill>
                <a:latin typeface="Arial"/>
              </a:defRPr>
            </a:pPr>
            <a:r>
              <a:t>•  Khi có tạp âm AWGN n:</a:t>
            </a:r>
            <a:br/>
            <a:r>
              <a:t>  x_hat = W_zf (H x + n) = x + W_zf n = x + n_tilde</a:t>
            </a:r>
          </a:p>
          <a:p>
            <a:pPr>
              <a:spcAft>
                <a:spcPts val="700"/>
              </a:spcAft>
              <a:defRPr sz="1050">
                <a:solidFill>
                  <a:srgbClr val="1E293B"/>
                </a:solidFill>
                <a:latin typeface="Arial"/>
              </a:defRPr>
            </a:pPr>
            <a:r>
              <a:t>•  Ma trận hiệp phương sai tạp âm sau tách sóng:</a:t>
            </a:r>
            <a:br/>
            <a:r>
              <a:t>  R_n_tilde = σ_n^2 (H^H H)^-1 = σ_n^2 [5.000  -5.000 ; -5.000  7.222]</a:t>
            </a:r>
          </a:p>
          <a:p>
            <a:pPr>
              <a:spcAft>
                <a:spcPts val="700"/>
              </a:spcAft>
              <a:defRPr sz="1050">
                <a:solidFill>
                  <a:srgbClr val="1E293B"/>
                </a:solidFill>
                <a:latin typeface="Arial"/>
              </a:defRPr>
            </a:pPr>
            <a:r>
              <a:t>•  Hệ số khuếch đại công suất tạp âm trên từng luồng:</a:t>
            </a:r>
            <a:br/>
            <a:r>
              <a:t>  • Luồng 1 (Tx1): Nhiễu bị khuếch đại 5.0 lần (+6.99 dB).</a:t>
            </a:r>
            <a:br/>
            <a:r>
              <a:t>  • Luồng 2 (Tx2): Nhiễu bị khuếch đại 7.222 lần (+8.59 dB).</a:t>
            </a:r>
          </a:p>
          <a:p>
            <a:pPr>
              <a:spcAft>
                <a:spcPts val="700"/>
              </a:spcAft>
              <a:defRPr sz="1050">
                <a:solidFill>
                  <a:srgbClr val="1E293B"/>
                </a:solidFill>
                <a:latin typeface="Arial"/>
              </a:defRPr>
            </a:pPr>
            <a:r>
              <a:t>•  Hệ quả kỹ thuật nghiêm trọng:</a:t>
            </a:r>
            <a:br/>
            <a:r>
              <a:t>  ZF triệt can nhiễu giữa các luồng thành công nhưng làm suy giảm mạnh SNR hiệu dụng ở máy thu, dẫn đến hiệu năng BER kém hơn nhiều so với STBC ở dải SNR thấp/trung bình.</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PHÂN TÍCH SDM</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Kỹ thuật Tiền mã hóa SVD &amp; Hai Kênh con Không gian Song song</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10 / 21</a:t>
            </a:r>
          </a:p>
        </p:txBody>
      </p:sp>
      <p:sp>
        <p:nvSpPr>
          <p:cNvPr id="7" name="Rectangle 6"/>
          <p:cNvSpPr/>
          <p:nvPr/>
        </p:nvSpPr>
        <p:spPr>
          <a:xfrm>
            <a:off x="731520" y="1371600"/>
            <a:ext cx="502920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02920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CƠ CHẾ PHÂN RÃ KÊNH TRỰC GIAO SVD</a:t>
            </a:r>
          </a:p>
        </p:txBody>
      </p:sp>
      <p:sp>
        <p:nvSpPr>
          <p:cNvPr id="9" name="TextBox 8"/>
          <p:cNvSpPr txBox="1"/>
          <p:nvPr/>
        </p:nvSpPr>
        <p:spPr>
          <a:xfrm>
            <a:off x="822960" y="1828800"/>
            <a:ext cx="4846320" cy="4206240"/>
          </a:xfrm>
          <a:prstGeom prst="rect">
            <a:avLst/>
          </a:prstGeom>
          <a:noFill/>
        </p:spPr>
        <p:txBody>
          <a:bodyPr wrap="square">
            <a:spAutoFit/>
          </a:bodyPr>
          <a:lstStyle/>
          <a:p>
            <a:pPr>
              <a:spcAft>
                <a:spcPts val="600"/>
              </a:spcAft>
              <a:defRPr sz="1000">
                <a:solidFill>
                  <a:srgbClr val="1E293B"/>
                </a:solidFill>
                <a:latin typeface="Arial"/>
              </a:defRPr>
            </a:pPr>
            <a:r>
              <a:t>•  Phân rã giá trị kỳ dị: H = U Σ V^H</a:t>
            </a:r>
            <a:br/>
            <a:r>
              <a:t>  U, V là các ma trận unita (U^H U = I, V^H V = I)</a:t>
            </a:r>
            <a:br/>
            <a:r>
              <a:t>  Σ = diag(σ_1, σ_2) = diag(1.00596, 0.29671)</a:t>
            </a:r>
          </a:p>
          <a:p>
            <a:pPr>
              <a:spcAft>
                <a:spcPts val="600"/>
              </a:spcAft>
              <a:defRPr sz="1000">
                <a:solidFill>
                  <a:srgbClr val="1E293B"/>
                </a:solidFill>
                <a:latin typeface="Arial"/>
              </a:defRPr>
            </a:pPr>
            <a:r>
              <a:t>•  Khối phát nhân ma trận tiền mã hóa: x_tx = V x</a:t>
            </a:r>
          </a:p>
          <a:p>
            <a:pPr>
              <a:spcAft>
                <a:spcPts val="600"/>
              </a:spcAft>
              <a:defRPr sz="1000">
                <a:solidFill>
                  <a:srgbClr val="1E293B"/>
                </a:solidFill>
                <a:latin typeface="Arial"/>
              </a:defRPr>
            </a:pPr>
            <a:r>
              <a:t>•  Khối thu nhân ma trận lọc không gian: y_tilde = U^H y</a:t>
            </a:r>
            <a:br/>
            <a:r>
              <a:t>  y_tilde = U^H (H V x + n) = Σ x + U^H n = Σ x + n_tilde</a:t>
            </a:r>
          </a:p>
          <a:p>
            <a:pPr>
              <a:spcAft>
                <a:spcPts val="600"/>
              </a:spcAft>
              <a:defRPr sz="1000">
                <a:solidFill>
                  <a:srgbClr val="1E293B"/>
                </a:solidFill>
                <a:latin typeface="Arial"/>
              </a:defRPr>
            </a:pPr>
            <a:r>
              <a:t>•  Hai kênh con trực giao song song hoàn toàn độc lập:</a:t>
            </a:r>
            <a:br/>
            <a:r>
              <a:t>  y_tilde_1 = 1.00596 x1 + n_tilde_1</a:t>
            </a:r>
            <a:br/>
            <a:r>
              <a:t>  y_tilde_2 = 0.29671 x2 + n_tilde_2</a:t>
            </a:r>
          </a:p>
          <a:p>
            <a:pPr>
              <a:spcAft>
                <a:spcPts val="600"/>
              </a:spcAft>
              <a:defRPr sz="1000">
                <a:solidFill>
                  <a:srgbClr val="1E293B"/>
                </a:solidFill>
                <a:latin typeface="Arial"/>
              </a:defRPr>
            </a:pPr>
            <a:r>
              <a:t>•  Bảo toàn phân bố tạp âm:</a:t>
            </a:r>
            <a:br/>
            <a:r>
              <a:t>  Do U là ma trận unita nên R_n_tilde = σ_n^2 U^H U = σ_n^2 I_2.</a:t>
            </a:r>
            <a:br/>
            <a:r>
              <a:t>  =&gt; Hoàn toàn không bị khuếch đại tạp âm!</a:t>
            </a:r>
          </a:p>
          <a:p>
            <a:pPr>
              <a:spcAft>
                <a:spcPts val="600"/>
              </a:spcAft>
              <a:defRPr sz="1000">
                <a:solidFill>
                  <a:srgbClr val="1E293B"/>
                </a:solidFill>
                <a:latin typeface="Arial"/>
              </a:defRPr>
            </a:pPr>
            <a:r>
              <a:t>•  Sai số khôi phục mô phỏng: 9.42e-16</a:t>
            </a:r>
          </a:p>
        </p:txBody>
      </p:sp>
      <p:sp>
        <p:nvSpPr>
          <p:cNvPr id="10" name="Rectangle 9"/>
          <p:cNvSpPr/>
          <p:nvPr/>
        </p:nvSpPr>
        <p:spPr>
          <a:xfrm>
            <a:off x="6035040" y="1371600"/>
            <a:ext cx="542513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71600"/>
            <a:ext cx="542513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HÌNH ẢNH MÔ PHỎNG TÁCH SÓNG SDM</a:t>
            </a:r>
          </a:p>
        </p:txBody>
      </p:sp>
      <p:pic>
        <p:nvPicPr>
          <p:cNvPr id="12" name="Picture 11" descr="fig2_sdm_signal_recovery.png"/>
          <p:cNvPicPr>
            <a:picLocks noChangeAspect="1"/>
          </p:cNvPicPr>
          <p:nvPr/>
        </p:nvPicPr>
        <p:blipFill>
          <a:blip r:embed="rId2"/>
          <a:stretch>
            <a:fillRect/>
          </a:stretch>
        </p:blipFill>
        <p:spPr>
          <a:xfrm>
            <a:off x="6172200" y="2103120"/>
            <a:ext cx="5150815" cy="1609630"/>
          </a:xfrm>
          <a:prstGeom prst="rect">
            <a:avLst/>
          </a:prstGeom>
        </p:spPr>
      </p:pic>
      <p:sp>
        <p:nvSpPr>
          <p:cNvPr id="13" name="TextBox 12"/>
          <p:cNvSpPr txBox="1"/>
          <p:nvPr/>
        </p:nvSpPr>
        <p:spPr>
          <a:xfrm>
            <a:off x="6172200" y="5394960"/>
            <a:ext cx="5150815" cy="640080"/>
          </a:xfrm>
          <a:prstGeom prst="rect">
            <a:avLst/>
          </a:prstGeom>
          <a:noFill/>
        </p:spPr>
        <p:txBody>
          <a:bodyPr wrap="square">
            <a:spAutoFit/>
          </a:bodyPr>
          <a:lstStyle/>
          <a:p>
            <a:pPr algn="ctr">
              <a:defRPr sz="950">
                <a:solidFill>
                  <a:srgbClr val="64748B"/>
                </a:solidFill>
                <a:latin typeface="Arial"/>
              </a:defRPr>
            </a:pPr>
            <a:r>
              <a:t>Hình 2.2: Tách sóng và khôi phục tín hiệu hệ thống MIMO 2x2 SDM (ZF, MMSE, SVD parallel channels).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KIỂM CHỨNG THỰC TẾ</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Ảnh chụp Kết quả Chạy Mô phỏng Thực tế trên Terminal MATLAB</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11 / 21</a:t>
            </a:r>
          </a:p>
        </p:txBody>
      </p:sp>
      <p:sp>
        <p:nvSpPr>
          <p:cNvPr id="7" name="Rectangle 6"/>
          <p:cNvSpPr/>
          <p:nvPr/>
        </p:nvSpPr>
        <p:spPr>
          <a:xfrm>
            <a:off x="731520"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MÔ PHỎNG STBC ALAMOUTI (TERMINAL)</a:t>
            </a:r>
          </a:p>
        </p:txBody>
      </p:sp>
      <p:pic>
        <p:nvPicPr>
          <p:cNvPr id="9" name="Picture 8" descr="term_capture_stbc_matlab.png"/>
          <p:cNvPicPr>
            <a:picLocks noChangeAspect="1"/>
          </p:cNvPicPr>
          <p:nvPr/>
        </p:nvPicPr>
        <p:blipFill>
          <a:blip r:embed="rId2"/>
          <a:stretch>
            <a:fillRect/>
          </a:stretch>
        </p:blipFill>
        <p:spPr>
          <a:xfrm>
            <a:off x="1188720" y="1920240"/>
            <a:ext cx="3714579" cy="3474720"/>
          </a:xfrm>
          <a:prstGeom prst="rect">
            <a:avLst/>
          </a:prstGeom>
        </p:spPr>
      </p:pic>
      <p:sp>
        <p:nvSpPr>
          <p:cNvPr id="10" name="TextBox 9"/>
          <p:cNvSpPr txBox="1"/>
          <p:nvPr/>
        </p:nvSpPr>
        <p:spPr>
          <a:xfrm>
            <a:off x="822960" y="5532120"/>
            <a:ext cx="5029200" cy="594360"/>
          </a:xfrm>
          <a:prstGeom prst="rect">
            <a:avLst/>
          </a:prstGeom>
          <a:noFill/>
        </p:spPr>
        <p:txBody>
          <a:bodyPr wrap="square">
            <a:spAutoFit/>
          </a:bodyPr>
          <a:lstStyle/>
          <a:p>
            <a:pPr algn="ctr">
              <a:defRPr sz="950">
                <a:solidFill>
                  <a:srgbClr val="64748B"/>
                </a:solidFill>
                <a:latin typeface="Arial"/>
              </a:defRPr>
            </a:pPr>
            <a:r>
              <a:t>Xác thực mô phỏng STBC: Tính toán 4 giá trị r0..r3, H_eff trực giao, khôi phục x0, x1 với sai số 1.11e-16.</a:t>
            </a:r>
          </a:p>
        </p:txBody>
      </p:sp>
      <p:sp>
        <p:nvSpPr>
          <p:cNvPr id="11" name="Rectangle 10"/>
          <p:cNvSpPr/>
          <p:nvPr/>
        </p:nvSpPr>
        <p:spPr>
          <a:xfrm>
            <a:off x="6248095" y="1371600"/>
            <a:ext cx="52120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MÔ PHỎNG SDM 2X2 (TERMINAL)</a:t>
            </a:r>
          </a:p>
        </p:txBody>
      </p:sp>
      <p:pic>
        <p:nvPicPr>
          <p:cNvPr id="13" name="Picture 12" descr="term_capture_sdm_matlab.png"/>
          <p:cNvPicPr>
            <a:picLocks noChangeAspect="1"/>
          </p:cNvPicPr>
          <p:nvPr/>
        </p:nvPicPr>
        <p:blipFill>
          <a:blip r:embed="rId3"/>
          <a:stretch>
            <a:fillRect/>
          </a:stretch>
        </p:blipFill>
        <p:spPr>
          <a:xfrm>
            <a:off x="7589520" y="1874519"/>
            <a:ext cx="1927150" cy="3566160"/>
          </a:xfrm>
          <a:prstGeom prst="rect">
            <a:avLst/>
          </a:prstGeom>
        </p:spPr>
      </p:pic>
      <p:sp>
        <p:nvSpPr>
          <p:cNvPr id="14" name="TextBox 13"/>
          <p:cNvSpPr txBox="1"/>
          <p:nvPr/>
        </p:nvSpPr>
        <p:spPr>
          <a:xfrm>
            <a:off x="6339535" y="5532120"/>
            <a:ext cx="5029200" cy="594360"/>
          </a:xfrm>
          <a:prstGeom prst="rect">
            <a:avLst/>
          </a:prstGeom>
          <a:noFill/>
        </p:spPr>
        <p:txBody>
          <a:bodyPr wrap="square">
            <a:spAutoFit/>
          </a:bodyPr>
          <a:lstStyle/>
          <a:p>
            <a:pPr algn="ctr">
              <a:defRPr sz="950">
                <a:solidFill>
                  <a:srgbClr val="64748B"/>
                </a:solidFill>
                <a:latin typeface="Arial"/>
              </a:defRPr>
            </a:pPr>
            <a:r>
              <a:t>Xác thực mô phỏng SDM: Nghịch đảo ZF, hệ số khuếch đại nhiễu 5.0x và 7.2x, kiểm chứng MMSE và SVD.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HIỆU NĂNG PHÂN TẬP</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Cơ sở Lý thuyết về Bậc Phân tập và Công thức Giải tích BER</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12 / 21</a:t>
            </a:r>
          </a:p>
        </p:txBody>
      </p:sp>
      <p:sp>
        <p:nvSpPr>
          <p:cNvPr id="7" name="Rectangle 6"/>
          <p:cNvSpPr/>
          <p:nvPr/>
        </p:nvSpPr>
        <p:spPr>
          <a:xfrm>
            <a:off x="731520" y="1371600"/>
            <a:ext cx="521208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KHÁI NIỆM BẬC PHÂN TẬP (DIVERSITY ORDER)</a:t>
            </a:r>
          </a:p>
        </p:txBody>
      </p:sp>
      <p:sp>
        <p:nvSpPr>
          <p:cNvPr id="9" name="TextBox 8"/>
          <p:cNvSpPr txBox="1"/>
          <p:nvPr/>
        </p:nvSpPr>
        <p:spPr>
          <a:xfrm>
            <a:off x="822960" y="1828800"/>
            <a:ext cx="5029200" cy="2651760"/>
          </a:xfrm>
          <a:prstGeom prst="rect">
            <a:avLst/>
          </a:prstGeom>
          <a:noFill/>
        </p:spPr>
        <p:txBody>
          <a:bodyPr wrap="square">
            <a:spAutoFit/>
          </a:bodyPr>
          <a:lstStyle/>
          <a:p>
            <a:pPr>
              <a:spcAft>
                <a:spcPts val="600"/>
              </a:spcAft>
              <a:defRPr sz="1100">
                <a:solidFill>
                  <a:srgbClr val="1E293B"/>
                </a:solidFill>
                <a:latin typeface="Arial"/>
              </a:defRPr>
            </a:pPr>
            <a:r>
              <a:t>•  Định nghĩa toán học: d = - lim_{SNR → ∞} [ log(P_b) / log(SNR) ]</a:t>
            </a:r>
          </a:p>
          <a:p>
            <a:pPr>
              <a:spcAft>
                <a:spcPts val="600"/>
              </a:spcAft>
              <a:defRPr sz="1100">
                <a:solidFill>
                  <a:srgbClr val="1E293B"/>
                </a:solidFill>
                <a:latin typeface="Arial"/>
              </a:defRPr>
            </a:pPr>
            <a:r>
              <a:t>•  Ý nghĩa hình học: Bậc phân tập d quyết định độ dốc tiệm cận của đường cong BER trên thang đo log-log ở dải SNR cao.</a:t>
            </a:r>
          </a:p>
          <a:p>
            <a:pPr>
              <a:spcAft>
                <a:spcPts val="600"/>
              </a:spcAft>
              <a:defRPr sz="1100">
                <a:solidFill>
                  <a:srgbClr val="1E293B"/>
                </a:solidFill>
                <a:latin typeface="Arial"/>
              </a:defRPr>
            </a:pPr>
            <a:r>
              <a:t>•  Quy luật suy hao: Xác suất lỗi tiệm cận theo tỷ lệ P_b ~ (1 / (c SNR))^d.</a:t>
            </a:r>
          </a:p>
          <a:p>
            <a:pPr>
              <a:spcAft>
                <a:spcPts val="600"/>
              </a:spcAft>
              <a:defRPr sz="1100">
                <a:solidFill>
                  <a:srgbClr val="1E293B"/>
                </a:solidFill>
                <a:latin typeface="Arial"/>
              </a:defRPr>
            </a:pPr>
            <a:r>
              <a:t>•  Giá trị kỹ thuật: Hệ số d càng lớn, xác suất tất cả các kênh rơi vào fading sâu đồng thời càng triệt tiêu nhanh chóng.</a:t>
            </a:r>
          </a:p>
        </p:txBody>
      </p:sp>
      <p:sp>
        <p:nvSpPr>
          <p:cNvPr id="10" name="Rectangle 9"/>
          <p:cNvSpPr/>
          <p:nvPr/>
        </p:nvSpPr>
        <p:spPr>
          <a:xfrm>
            <a:off x="6248095" y="1371600"/>
            <a:ext cx="521208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BẬC PHÂN TẬP CỦA CÁC CẤU HÌNH ANTEN</a:t>
            </a:r>
          </a:p>
        </p:txBody>
      </p:sp>
      <p:sp>
        <p:nvSpPr>
          <p:cNvPr id="12" name="TextBox 11"/>
          <p:cNvSpPr txBox="1"/>
          <p:nvPr/>
        </p:nvSpPr>
        <p:spPr>
          <a:xfrm>
            <a:off x="6339535" y="1828800"/>
            <a:ext cx="5029200" cy="2651760"/>
          </a:xfrm>
          <a:prstGeom prst="rect">
            <a:avLst/>
          </a:prstGeom>
          <a:noFill/>
        </p:spPr>
        <p:txBody>
          <a:bodyPr wrap="square">
            <a:spAutoFit/>
          </a:bodyPr>
          <a:lstStyle/>
          <a:p>
            <a:pPr>
              <a:spcAft>
                <a:spcPts val="500"/>
              </a:spcAft>
              <a:defRPr sz="1100">
                <a:solidFill>
                  <a:srgbClr val="1E293B"/>
                </a:solidFill>
                <a:latin typeface="Arial"/>
              </a:defRPr>
            </a:pPr>
            <a:r>
              <a:t>•  SISO (1x1): d = 1  (Độ dốc cơ sở: cần 10 dB cho mỗi thập kỷ giảm BER).</a:t>
            </a:r>
          </a:p>
          <a:p>
            <a:pPr>
              <a:spcAft>
                <a:spcPts val="500"/>
              </a:spcAft>
              <a:defRPr sz="1100">
                <a:solidFill>
                  <a:srgbClr val="1E293B"/>
                </a:solidFill>
                <a:latin typeface="Arial"/>
              </a:defRPr>
            </a:pPr>
            <a:r>
              <a:t>•  SIMO 1x2 SC (Selection Combining): d = N_r = 2  (Độ dốc gấp 2 lần).</a:t>
            </a:r>
          </a:p>
          <a:p>
            <a:pPr>
              <a:spcAft>
                <a:spcPts val="500"/>
              </a:spcAft>
              <a:defRPr sz="1100">
                <a:solidFill>
                  <a:srgbClr val="1E293B"/>
                </a:solidFill>
                <a:latin typeface="Arial"/>
              </a:defRPr>
            </a:pPr>
            <a:r>
              <a:t>•  SIMO 1x2 MRC (Maximal Ratio Combining): d = N_r = 2  (Độ lợi mảng +3 dB).</a:t>
            </a:r>
          </a:p>
          <a:p>
            <a:pPr>
              <a:spcAft>
                <a:spcPts val="500"/>
              </a:spcAft>
              <a:defRPr sz="1100">
                <a:solidFill>
                  <a:srgbClr val="1E293B"/>
                </a:solidFill>
                <a:latin typeface="Arial"/>
              </a:defRPr>
            </a:pPr>
            <a:r>
              <a:t>•  MISO 2x1 Alamouti STBC: d = N_t = 2  (Dịch 3 dB so với MRC do chia công suất).</a:t>
            </a:r>
          </a:p>
          <a:p>
            <a:pPr>
              <a:spcAft>
                <a:spcPts val="500"/>
              </a:spcAft>
              <a:defRPr sz="1100">
                <a:solidFill>
                  <a:srgbClr val="1E293B"/>
                </a:solidFill>
                <a:latin typeface="Arial"/>
              </a:defRPr>
            </a:pPr>
            <a:r>
              <a:t>•  MIMO 2x2 Alamouti STBC: d = N_t N_r = 4  (Bậc phân tập tối đa, độ dốc gấp 4 lần).</a:t>
            </a:r>
          </a:p>
        </p:txBody>
      </p:sp>
      <p:sp>
        <p:nvSpPr>
          <p:cNvPr id="13" name="Rectangle 12"/>
          <p:cNvSpPr/>
          <p:nvPr/>
        </p:nvSpPr>
        <p:spPr>
          <a:xfrm>
            <a:off x="731520" y="4709160"/>
            <a:ext cx="10728655" cy="1554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709160"/>
            <a:ext cx="10728655"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CÔNG THỨC GIẢI TÍCH KHÉP KÍN (CLOSED-FORM ANALYTICAL FORMULAS)</a:t>
            </a:r>
          </a:p>
        </p:txBody>
      </p:sp>
      <p:sp>
        <p:nvSpPr>
          <p:cNvPr id="15" name="TextBox 14"/>
          <p:cNvSpPr txBox="1"/>
          <p:nvPr/>
        </p:nvSpPr>
        <p:spPr>
          <a:xfrm>
            <a:off x="822960" y="5120640"/>
            <a:ext cx="10545775" cy="1051560"/>
          </a:xfrm>
          <a:prstGeom prst="rect">
            <a:avLst/>
          </a:prstGeom>
          <a:noFill/>
        </p:spPr>
        <p:txBody>
          <a:bodyPr wrap="square">
            <a:spAutoFit/>
          </a:bodyPr>
          <a:lstStyle/>
          <a:p>
            <a:pPr>
              <a:spcAft>
                <a:spcPts val="300"/>
              </a:spcAft>
              <a:defRPr sz="1050">
                <a:solidFill>
                  <a:srgbClr val="1E293B"/>
                </a:solidFill>
                <a:latin typeface="Arial"/>
              </a:defRPr>
            </a:pPr>
            <a:r>
              <a:t>•  SISO: P_b = 0.5 * (1 - μ)   với   μ = √( γ̄ / (1 + γ̄) )</a:t>
            </a:r>
          </a:p>
          <a:p>
            <a:pPr>
              <a:spcAft>
                <a:spcPts val="300"/>
              </a:spcAft>
              <a:defRPr sz="1050">
                <a:solidFill>
                  <a:srgbClr val="1E293B"/>
                </a:solidFill>
                <a:latin typeface="Arial"/>
              </a:defRPr>
            </a:pPr>
            <a:r>
              <a:t>•  SIMO 1x2 MRC: P_b = ((1 - μ)/2)^2 * (2 + μ)   với   μ = √( γ̄ / (1 + γ̄) )</a:t>
            </a:r>
          </a:p>
          <a:p>
            <a:pPr>
              <a:spcAft>
                <a:spcPts val="300"/>
              </a:spcAft>
              <a:defRPr sz="1050">
                <a:solidFill>
                  <a:srgbClr val="1E293B"/>
                </a:solidFill>
                <a:latin typeface="Arial"/>
              </a:defRPr>
            </a:pPr>
            <a:r>
              <a:t>•  MISO 2x1 Alamouti: P_b = ((1 - μ')/2)^2 * (2 + μ')   với   μ' = √( (γ̄/2) / (1 + γ̄/2) )</a:t>
            </a:r>
          </a:p>
          <a:p>
            <a:pPr>
              <a:spcAft>
                <a:spcPts val="300"/>
              </a:spcAft>
              <a:defRPr sz="1050">
                <a:solidFill>
                  <a:srgbClr val="1E293B"/>
                </a:solidFill>
                <a:latin typeface="Arial"/>
              </a:defRPr>
            </a:pPr>
            <a:r>
              <a:t>•  MIMO 2x2 Alamouti: P_b = q^4 * (1 + 4p + 10p^2 + 20p^3)   với   p = (1+μ')/2,  q = (1-μ')/2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HIỆU NĂNG PHÂN TẬP</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Đồ thị So sánh Hiệu năng BER: Lý thuyết vs Mô phỏng Thực tế</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13 / 21</a:t>
            </a:r>
          </a:p>
        </p:txBody>
      </p:sp>
      <p:sp>
        <p:nvSpPr>
          <p:cNvPr id="7" name="Rectangle 6"/>
          <p:cNvSpPr/>
          <p:nvPr/>
        </p:nvSpPr>
        <p:spPr>
          <a:xfrm>
            <a:off x="731520" y="1371600"/>
            <a:ext cx="5669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669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ĐỒ THỊ KHẢO SÁT HIỆU NĂNG BER</a:t>
            </a:r>
          </a:p>
        </p:txBody>
      </p:sp>
      <p:pic>
        <p:nvPicPr>
          <p:cNvPr id="9" name="Picture 8" descr="fig3_ber_diversity_comparison.png"/>
          <p:cNvPicPr>
            <a:picLocks noChangeAspect="1"/>
          </p:cNvPicPr>
          <p:nvPr/>
        </p:nvPicPr>
        <p:blipFill>
          <a:blip r:embed="rId2"/>
          <a:stretch>
            <a:fillRect/>
          </a:stretch>
        </p:blipFill>
        <p:spPr>
          <a:xfrm>
            <a:off x="868680" y="1874519"/>
            <a:ext cx="5394960" cy="3776472"/>
          </a:xfrm>
          <a:prstGeom prst="rect">
            <a:avLst/>
          </a:prstGeom>
        </p:spPr>
      </p:pic>
      <p:sp>
        <p:nvSpPr>
          <p:cNvPr id="10" name="TextBox 9"/>
          <p:cNvSpPr txBox="1"/>
          <p:nvPr/>
        </p:nvSpPr>
        <p:spPr>
          <a:xfrm>
            <a:off x="868680" y="5532120"/>
            <a:ext cx="5394960" cy="548640"/>
          </a:xfrm>
          <a:prstGeom prst="rect">
            <a:avLst/>
          </a:prstGeom>
          <a:noFill/>
        </p:spPr>
        <p:txBody>
          <a:bodyPr wrap="square">
            <a:spAutoFit/>
          </a:bodyPr>
          <a:lstStyle/>
          <a:p>
            <a:pPr algn="ctr">
              <a:defRPr sz="950">
                <a:solidFill>
                  <a:srgbClr val="64748B"/>
                </a:solidFill>
                <a:latin typeface="Arial"/>
              </a:defRPr>
            </a:pPr>
            <a:r>
              <a:t>Hình 3.1: So sánh hiệu năng BER giữa SISO, SIMO SC/MRC, MISO 2x1 và MIMO 2x2 Alamouti.</a:t>
            </a:r>
          </a:p>
        </p:txBody>
      </p:sp>
      <p:sp>
        <p:nvSpPr>
          <p:cNvPr id="11" name="Rectangle 10"/>
          <p:cNvSpPr/>
          <p:nvPr/>
        </p:nvSpPr>
        <p:spPr>
          <a:xfrm>
            <a:off x="6675120" y="1371600"/>
            <a:ext cx="478505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371600"/>
            <a:ext cx="478505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PHÂN TÍCH ĐẶC TUYẾN HIỆU NĂNG</a:t>
            </a:r>
          </a:p>
        </p:txBody>
      </p:sp>
      <p:sp>
        <p:nvSpPr>
          <p:cNvPr id="13" name="TextBox 12"/>
          <p:cNvSpPr txBox="1"/>
          <p:nvPr/>
        </p:nvSpPr>
        <p:spPr>
          <a:xfrm>
            <a:off x="6766560" y="1828800"/>
            <a:ext cx="4572000" cy="4206240"/>
          </a:xfrm>
          <a:prstGeom prst="rect">
            <a:avLst/>
          </a:prstGeom>
          <a:noFill/>
        </p:spPr>
        <p:txBody>
          <a:bodyPr wrap="square">
            <a:spAutoFit/>
          </a:bodyPr>
          <a:lstStyle/>
          <a:p>
            <a:pPr>
              <a:spcAft>
                <a:spcPts val="600"/>
              </a:spcAft>
              <a:defRPr sz="1000">
                <a:solidFill>
                  <a:srgbClr val="1E293B"/>
                </a:solidFill>
                <a:latin typeface="Arial"/>
              </a:defRPr>
            </a:pPr>
            <a:r>
              <a:t>•  Kiểm chứng mô phỏng Monte Carlo:</a:t>
            </a:r>
            <a:br/>
            <a:r>
              <a:t>Các điểm mô phỏng 2x10^5 bit (markers) trùng khớp tuyệt đối với các đường cong lý thuyết giải tích liên tục trên toàn dải SNR từ 0 đến 25 dB.</a:t>
            </a:r>
          </a:p>
          <a:p>
            <a:pPr>
              <a:spcAft>
                <a:spcPts val="600"/>
              </a:spcAft>
              <a:defRPr sz="1000">
                <a:solidFill>
                  <a:srgbClr val="1E293B"/>
                </a:solidFill>
                <a:latin typeface="Arial"/>
              </a:defRPr>
            </a:pPr>
            <a:r>
              <a:t>•  Khác biệt độ dốc (Slope):</a:t>
            </a:r>
            <a:br/>
            <a:r>
              <a:t>Đường cong MIMO 2x2 STBC có độ dốc d = 4 dốc đứng nhất, lao nhanh xuống vùng lỗi thấp khi SNR tăng.</a:t>
            </a:r>
          </a:p>
          <a:p>
            <a:pPr>
              <a:spcAft>
                <a:spcPts val="600"/>
              </a:spcAft>
              <a:defRPr sz="1000">
                <a:solidFill>
                  <a:srgbClr val="1E293B"/>
                </a:solidFill>
                <a:latin typeface="Arial"/>
              </a:defRPr>
            </a:pPr>
            <a:r>
              <a:t>•  So sánh tại mốc SNR = 10 dB:</a:t>
            </a:r>
            <a:br/>
            <a:r>
              <a:t>• SISO: BER = 2.31 x 10^-2 (Lỗi cao)</a:t>
            </a:r>
            <a:br/>
            <a:r>
              <a:t>• SIMO SC: BER = 2.99 x 10^-3</a:t>
            </a:r>
            <a:br/>
            <a:r>
              <a:t>• MISO 2x1: BER = 5.53 x 10^-3</a:t>
            </a:r>
            <a:br/>
            <a:r>
              <a:t>• SIMO MRC: BER = 1.60 x 10^-3</a:t>
            </a:r>
            <a:br/>
            <a:r>
              <a:t>• MIMO 2x2 STBC: BER = 1.06 x 10^-4</a:t>
            </a:r>
            <a:br/>
            <a:r>
              <a:t>  =&gt; MIMO 2x2 giảm lỗi hơn 218 lần so với SISO!</a:t>
            </a:r>
          </a:p>
          <a:p>
            <a:pPr>
              <a:spcAft>
                <a:spcPts val="600"/>
              </a:spcAft>
              <a:defRPr sz="1000">
                <a:solidFill>
                  <a:srgbClr val="1E293B"/>
                </a:solidFill>
                <a:latin typeface="Arial"/>
              </a:defRPr>
            </a:pPr>
            <a:r>
              <a:t>•  Vùng SNR &gt; 15 dB:</a:t>
            </a:r>
            <a:br/>
            <a:r>
              <a:t>Hiệu năng MIMO 2x2 STBC đạt dưới 10^-5, không ghi nhận bất kỳ bit lỗi nào trong tập dữ liệu mô phỏng.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HIỆU NĂNG PHÂN TẬP</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Phân tích Độ lợi Phân tập và Tiết kiệm Công suất Phát</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14 / 21</a:t>
            </a:r>
          </a:p>
        </p:txBody>
      </p:sp>
      <p:sp>
        <p:nvSpPr>
          <p:cNvPr id="7" name="Rectangle 6"/>
          <p:cNvSpPr/>
          <p:nvPr/>
        </p:nvSpPr>
        <p:spPr>
          <a:xfrm>
            <a:off x="731520" y="1371600"/>
            <a:ext cx="5669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669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ĐỐI CHIẾU SNR YÊU CẦU TẠI BER = 10^-3</a:t>
            </a:r>
          </a:p>
        </p:txBody>
      </p:sp>
      <p:graphicFrame>
        <p:nvGraphicFramePr>
          <p:cNvPr id="9" name="Table 8"/>
          <p:cNvGraphicFramePr>
            <a:graphicFrameLocks noGrp="1"/>
          </p:cNvGraphicFramePr>
          <p:nvPr/>
        </p:nvGraphicFramePr>
        <p:xfrm>
          <a:off x="868680" y="1920240"/>
          <a:ext cx="5394960" cy="2286000"/>
        </p:xfrm>
        <a:graphic>
          <a:graphicData uri="http://schemas.openxmlformats.org/drawingml/2006/table">
            <a:tbl>
              <a:tblPr firstRow="1" bandRow="1">
                <a:tableStyleId>{5C22544A-7EE6-4342-B048-85BDC9FD1C3A}</a:tableStyleId>
              </a:tblPr>
              <a:tblGrid>
                <a:gridCol w="2011680"/>
                <a:gridCol w="731520"/>
                <a:gridCol w="1280160"/>
                <a:gridCol w="1371600"/>
              </a:tblGrid>
              <a:tr h="381000">
                <a:tc>
                  <a:txBody>
                    <a:bodyPr/>
                    <a:lstStyle/>
                    <a:p>
                      <a:pPr algn="ctr">
                        <a:defRPr sz="1000" b="1">
                          <a:solidFill>
                            <a:srgbClr val="FFFFFF"/>
                          </a:solidFill>
                          <a:latin typeface="Arial"/>
                        </a:defRPr>
                      </a:pPr>
                      <a:r>
                        <a:t>Cấu hình anten</a:t>
                      </a:r>
                    </a:p>
                  </a:txBody>
                  <a:tcPr anchor="ctr">
                    <a:solidFill>
                      <a:srgbClr val="002B49"/>
                    </a:solidFill>
                  </a:tcPr>
                </a:tc>
                <a:tc>
                  <a:txBody>
                    <a:bodyPr/>
                    <a:lstStyle/>
                    <a:p>
                      <a:pPr algn="ctr">
                        <a:defRPr sz="1000" b="1">
                          <a:solidFill>
                            <a:srgbClr val="FFFFFF"/>
                          </a:solidFill>
                          <a:latin typeface="Arial"/>
                        </a:defRPr>
                      </a:pPr>
                      <a:r>
                        <a:t>Bậc d</a:t>
                      </a:r>
                    </a:p>
                  </a:txBody>
                  <a:tcPr anchor="ctr">
                    <a:solidFill>
                      <a:srgbClr val="002B49"/>
                    </a:solidFill>
                  </a:tcPr>
                </a:tc>
                <a:tc>
                  <a:txBody>
                    <a:bodyPr/>
                    <a:lstStyle/>
                    <a:p>
                      <a:pPr algn="ctr">
                        <a:defRPr sz="1000" b="1">
                          <a:solidFill>
                            <a:srgbClr val="FFFFFF"/>
                          </a:solidFill>
                          <a:latin typeface="Arial"/>
                        </a:defRPr>
                      </a:pPr>
                      <a:r>
                        <a:t>SNR cần (dB)</a:t>
                      </a:r>
                    </a:p>
                  </a:txBody>
                  <a:tcPr anchor="ctr">
                    <a:solidFill>
                      <a:srgbClr val="002B49"/>
                    </a:solidFill>
                  </a:tcPr>
                </a:tc>
                <a:tc>
                  <a:txBody>
                    <a:bodyPr/>
                    <a:lstStyle/>
                    <a:p>
                      <a:pPr algn="ctr">
                        <a:defRPr sz="1000" b="1">
                          <a:solidFill>
                            <a:srgbClr val="FFFFFF"/>
                          </a:solidFill>
                          <a:latin typeface="Arial"/>
                        </a:defRPr>
                      </a:pPr>
                      <a:r>
                        <a:t>Độ lợi SNR (dB)</a:t>
                      </a:r>
                    </a:p>
                  </a:txBody>
                  <a:tcPr anchor="ctr">
                    <a:solidFill>
                      <a:srgbClr val="002B49"/>
                    </a:solidFill>
                  </a:tcPr>
                </a:tc>
              </a:tr>
              <a:tr h="381000">
                <a:tc>
                  <a:txBody>
                    <a:bodyPr/>
                    <a:lstStyle/>
                    <a:p>
                      <a:pPr algn="ctr">
                        <a:defRPr sz="950">
                          <a:solidFill>
                            <a:srgbClr val="1E293B"/>
                          </a:solidFill>
                          <a:latin typeface="Arial"/>
                        </a:defRPr>
                      </a:pPr>
                      <a:r>
                        <a:t>SISO (1x1)</a:t>
                      </a:r>
                    </a:p>
                  </a:txBody>
                  <a:tcPr anchor="ctr">
                    <a:solidFill>
                      <a:srgbClr val="F1F5F9"/>
                    </a:solidFill>
                  </a:tcPr>
                </a:tc>
                <a:tc>
                  <a:txBody>
                    <a:bodyPr/>
                    <a:lstStyle/>
                    <a:p>
                      <a:pPr algn="ctr">
                        <a:defRPr sz="950">
                          <a:solidFill>
                            <a:srgbClr val="1E293B"/>
                          </a:solidFill>
                          <a:latin typeface="Arial"/>
                        </a:defRPr>
                      </a:pPr>
                      <a:r>
                        <a:t>1</a:t>
                      </a:r>
                    </a:p>
                  </a:txBody>
                  <a:tcPr anchor="ctr">
                    <a:solidFill>
                      <a:srgbClr val="F1F5F9"/>
                    </a:solidFill>
                  </a:tcPr>
                </a:tc>
                <a:tc>
                  <a:txBody>
                    <a:bodyPr/>
                    <a:lstStyle/>
                    <a:p>
                      <a:pPr algn="ctr">
                        <a:defRPr sz="950">
                          <a:solidFill>
                            <a:srgbClr val="1E293B"/>
                          </a:solidFill>
                          <a:latin typeface="Arial"/>
                        </a:defRPr>
                      </a:pPr>
                      <a:r>
                        <a:t>23.9 dB</a:t>
                      </a:r>
                    </a:p>
                  </a:txBody>
                  <a:tcPr anchor="ctr">
                    <a:solidFill>
                      <a:srgbClr val="F1F5F9"/>
                    </a:solidFill>
                  </a:tcPr>
                </a:tc>
                <a:tc>
                  <a:txBody>
                    <a:bodyPr/>
                    <a:lstStyle/>
                    <a:p>
                      <a:pPr algn="ctr">
                        <a:defRPr sz="950">
                          <a:solidFill>
                            <a:srgbClr val="1E293B"/>
                          </a:solidFill>
                          <a:latin typeface="Arial"/>
                        </a:defRPr>
                      </a:pPr>
                      <a:r>
                        <a:t>0.0 dB (Chuẩn)</a:t>
                      </a:r>
                    </a:p>
                  </a:txBody>
                  <a:tcPr anchor="ctr">
                    <a:solidFill>
                      <a:srgbClr val="F1F5F9"/>
                    </a:solidFill>
                  </a:tcPr>
                </a:tc>
              </a:tr>
              <a:tr h="381000">
                <a:tc>
                  <a:txBody>
                    <a:bodyPr/>
                    <a:lstStyle/>
                    <a:p>
                      <a:pPr algn="ctr">
                        <a:defRPr sz="950">
                          <a:solidFill>
                            <a:srgbClr val="1E293B"/>
                          </a:solidFill>
                          <a:latin typeface="Arial"/>
                        </a:defRPr>
                      </a:pPr>
                      <a:r>
                        <a:t>MISO 2x1 (Alamouti)</a:t>
                      </a:r>
                    </a:p>
                  </a:txBody>
                  <a:tcPr anchor="ctr">
                    <a:solidFill>
                      <a:srgbClr val="FFFFFF"/>
                    </a:solidFill>
                  </a:tcPr>
                </a:tc>
                <a:tc>
                  <a:txBody>
                    <a:bodyPr/>
                    <a:lstStyle/>
                    <a:p>
                      <a:pPr algn="ctr">
                        <a:defRPr sz="950">
                          <a:solidFill>
                            <a:srgbClr val="1E293B"/>
                          </a:solidFill>
                          <a:latin typeface="Arial"/>
                        </a:defRPr>
                      </a:pPr>
                      <a:r>
                        <a:t>2</a:t>
                      </a:r>
                    </a:p>
                  </a:txBody>
                  <a:tcPr anchor="ctr">
                    <a:solidFill>
                      <a:srgbClr val="FFFFFF"/>
                    </a:solidFill>
                  </a:tcPr>
                </a:tc>
                <a:tc>
                  <a:txBody>
                    <a:bodyPr/>
                    <a:lstStyle/>
                    <a:p>
                      <a:pPr algn="ctr">
                        <a:defRPr sz="950">
                          <a:solidFill>
                            <a:srgbClr val="1E293B"/>
                          </a:solidFill>
                          <a:latin typeface="Arial"/>
                        </a:defRPr>
                      </a:pPr>
                      <a:r>
                        <a:t>14.0 dB</a:t>
                      </a:r>
                    </a:p>
                  </a:txBody>
                  <a:tcPr anchor="ctr">
                    <a:solidFill>
                      <a:srgbClr val="FFFFFF"/>
                    </a:solidFill>
                  </a:tcPr>
                </a:tc>
                <a:tc>
                  <a:txBody>
                    <a:bodyPr/>
                    <a:lstStyle/>
                    <a:p>
                      <a:pPr algn="ctr">
                        <a:defRPr sz="950">
                          <a:solidFill>
                            <a:srgbClr val="1E293B"/>
                          </a:solidFill>
                          <a:latin typeface="Arial"/>
                        </a:defRPr>
                      </a:pPr>
                      <a:r>
                        <a:t>+9.9 dB</a:t>
                      </a:r>
                    </a:p>
                  </a:txBody>
                  <a:tcPr anchor="ctr">
                    <a:solidFill>
                      <a:srgbClr val="FFFFFF"/>
                    </a:solidFill>
                  </a:tcPr>
                </a:tc>
              </a:tr>
              <a:tr h="381000">
                <a:tc>
                  <a:txBody>
                    <a:bodyPr/>
                    <a:lstStyle/>
                    <a:p>
                      <a:pPr algn="ctr">
                        <a:defRPr sz="950">
                          <a:solidFill>
                            <a:srgbClr val="1E293B"/>
                          </a:solidFill>
                          <a:latin typeface="Arial"/>
                        </a:defRPr>
                      </a:pPr>
                      <a:r>
                        <a:t>SIMO 1x2 (SC)</a:t>
                      </a:r>
                    </a:p>
                  </a:txBody>
                  <a:tcPr anchor="ctr">
                    <a:solidFill>
                      <a:srgbClr val="F1F5F9"/>
                    </a:solidFill>
                  </a:tcPr>
                </a:tc>
                <a:tc>
                  <a:txBody>
                    <a:bodyPr/>
                    <a:lstStyle/>
                    <a:p>
                      <a:pPr algn="ctr">
                        <a:defRPr sz="950">
                          <a:solidFill>
                            <a:srgbClr val="1E293B"/>
                          </a:solidFill>
                          <a:latin typeface="Arial"/>
                        </a:defRPr>
                      </a:pPr>
                      <a:r>
                        <a:t>2</a:t>
                      </a:r>
                    </a:p>
                  </a:txBody>
                  <a:tcPr anchor="ctr">
                    <a:solidFill>
                      <a:srgbClr val="F1F5F9"/>
                    </a:solidFill>
                  </a:tcPr>
                </a:tc>
                <a:tc>
                  <a:txBody>
                    <a:bodyPr/>
                    <a:lstStyle/>
                    <a:p>
                      <a:pPr algn="ctr">
                        <a:defRPr sz="950">
                          <a:solidFill>
                            <a:srgbClr val="1E293B"/>
                          </a:solidFill>
                          <a:latin typeface="Arial"/>
                        </a:defRPr>
                      </a:pPr>
                      <a:r>
                        <a:t>13.5 dB</a:t>
                      </a:r>
                    </a:p>
                  </a:txBody>
                  <a:tcPr anchor="ctr">
                    <a:solidFill>
                      <a:srgbClr val="F1F5F9"/>
                    </a:solidFill>
                  </a:tcPr>
                </a:tc>
                <a:tc>
                  <a:txBody>
                    <a:bodyPr/>
                    <a:lstStyle/>
                    <a:p>
                      <a:pPr algn="ctr">
                        <a:defRPr sz="950">
                          <a:solidFill>
                            <a:srgbClr val="1E293B"/>
                          </a:solidFill>
                          <a:latin typeface="Arial"/>
                        </a:defRPr>
                      </a:pPr>
                      <a:r>
                        <a:t>+10.4 dB</a:t>
                      </a:r>
                    </a:p>
                  </a:txBody>
                  <a:tcPr anchor="ctr">
                    <a:solidFill>
                      <a:srgbClr val="F1F5F9"/>
                    </a:solidFill>
                  </a:tcPr>
                </a:tc>
              </a:tr>
              <a:tr h="381000">
                <a:tc>
                  <a:txBody>
                    <a:bodyPr/>
                    <a:lstStyle/>
                    <a:p>
                      <a:pPr algn="ctr">
                        <a:defRPr sz="950">
                          <a:solidFill>
                            <a:srgbClr val="1E293B"/>
                          </a:solidFill>
                          <a:latin typeface="Arial"/>
                        </a:defRPr>
                      </a:pPr>
                      <a:r>
                        <a:t>SIMO 1x2 (MRC)</a:t>
                      </a:r>
                    </a:p>
                  </a:txBody>
                  <a:tcPr anchor="ctr">
                    <a:solidFill>
                      <a:srgbClr val="FFFFFF"/>
                    </a:solidFill>
                  </a:tcPr>
                </a:tc>
                <a:tc>
                  <a:txBody>
                    <a:bodyPr/>
                    <a:lstStyle/>
                    <a:p>
                      <a:pPr algn="ctr">
                        <a:defRPr sz="950">
                          <a:solidFill>
                            <a:srgbClr val="1E293B"/>
                          </a:solidFill>
                          <a:latin typeface="Arial"/>
                        </a:defRPr>
                      </a:pPr>
                      <a:r>
                        <a:t>2</a:t>
                      </a:r>
                    </a:p>
                  </a:txBody>
                  <a:tcPr anchor="ctr">
                    <a:solidFill>
                      <a:srgbClr val="FFFFFF"/>
                    </a:solidFill>
                  </a:tcPr>
                </a:tc>
                <a:tc>
                  <a:txBody>
                    <a:bodyPr/>
                    <a:lstStyle/>
                    <a:p>
                      <a:pPr algn="ctr">
                        <a:defRPr sz="950">
                          <a:solidFill>
                            <a:srgbClr val="1E293B"/>
                          </a:solidFill>
                          <a:latin typeface="Arial"/>
                        </a:defRPr>
                      </a:pPr>
                      <a:r>
                        <a:t>11.0 dB</a:t>
                      </a:r>
                    </a:p>
                  </a:txBody>
                  <a:tcPr anchor="ctr">
                    <a:solidFill>
                      <a:srgbClr val="FFFFFF"/>
                    </a:solidFill>
                  </a:tcPr>
                </a:tc>
                <a:tc>
                  <a:txBody>
                    <a:bodyPr/>
                    <a:lstStyle/>
                    <a:p>
                      <a:pPr algn="ctr">
                        <a:defRPr sz="950">
                          <a:solidFill>
                            <a:srgbClr val="1E293B"/>
                          </a:solidFill>
                          <a:latin typeface="Arial"/>
                        </a:defRPr>
                      </a:pPr>
                      <a:r>
                        <a:t>+12.9 dB</a:t>
                      </a:r>
                    </a:p>
                  </a:txBody>
                  <a:tcPr anchor="ctr">
                    <a:solidFill>
                      <a:srgbClr val="FFFFFF"/>
                    </a:solidFill>
                  </a:tcPr>
                </a:tc>
              </a:tr>
              <a:tr h="381000">
                <a:tc>
                  <a:txBody>
                    <a:bodyPr/>
                    <a:lstStyle/>
                    <a:p>
                      <a:pPr algn="ctr">
                        <a:defRPr sz="950">
                          <a:solidFill>
                            <a:srgbClr val="1E293B"/>
                          </a:solidFill>
                          <a:latin typeface="Arial"/>
                        </a:defRPr>
                      </a:pPr>
                      <a:r>
                        <a:t>MIMO 2x2 (Alamouti STBC)</a:t>
                      </a:r>
                    </a:p>
                  </a:txBody>
                  <a:tcPr anchor="ctr">
                    <a:solidFill>
                      <a:srgbClr val="F1F5F9"/>
                    </a:solidFill>
                  </a:tcPr>
                </a:tc>
                <a:tc>
                  <a:txBody>
                    <a:bodyPr/>
                    <a:lstStyle/>
                    <a:p>
                      <a:pPr algn="ctr">
                        <a:defRPr sz="950">
                          <a:solidFill>
                            <a:srgbClr val="1E293B"/>
                          </a:solidFill>
                          <a:latin typeface="Arial"/>
                        </a:defRPr>
                      </a:pPr>
                      <a:r>
                        <a:t>4</a:t>
                      </a:r>
                    </a:p>
                  </a:txBody>
                  <a:tcPr anchor="ctr">
                    <a:solidFill>
                      <a:srgbClr val="F1F5F9"/>
                    </a:solidFill>
                  </a:tcPr>
                </a:tc>
                <a:tc>
                  <a:txBody>
                    <a:bodyPr/>
                    <a:lstStyle/>
                    <a:p>
                      <a:pPr algn="ctr">
                        <a:defRPr sz="950">
                          <a:solidFill>
                            <a:srgbClr val="1E293B"/>
                          </a:solidFill>
                          <a:latin typeface="Arial"/>
                        </a:defRPr>
                      </a:pPr>
                      <a:r>
                        <a:t>7.4 dB</a:t>
                      </a:r>
                    </a:p>
                  </a:txBody>
                  <a:tcPr anchor="ctr">
                    <a:solidFill>
                      <a:srgbClr val="F1F5F9"/>
                    </a:solidFill>
                  </a:tcPr>
                </a:tc>
                <a:tc>
                  <a:txBody>
                    <a:bodyPr/>
                    <a:lstStyle/>
                    <a:p>
                      <a:pPr algn="ctr">
                        <a:defRPr sz="950">
                          <a:solidFill>
                            <a:srgbClr val="1E293B"/>
                          </a:solidFill>
                          <a:latin typeface="Arial"/>
                        </a:defRPr>
                      </a:pPr>
                      <a:r>
                        <a:t>+16.5 dB (Vượt trội)</a:t>
                      </a:r>
                    </a:p>
                  </a:txBody>
                  <a:tcPr anchor="ctr">
                    <a:solidFill>
                      <a:srgbClr val="F1F5F9"/>
                    </a:solidFill>
                  </a:tcPr>
                </a:tc>
              </a:tr>
            </a:tbl>
          </a:graphicData>
        </a:graphic>
      </p:graphicFrame>
      <p:sp>
        <p:nvSpPr>
          <p:cNvPr id="10" name="TextBox 9"/>
          <p:cNvSpPr txBox="1"/>
          <p:nvPr/>
        </p:nvSpPr>
        <p:spPr>
          <a:xfrm>
            <a:off x="868680" y="4389120"/>
            <a:ext cx="5394960" cy="1645920"/>
          </a:xfrm>
          <a:prstGeom prst="rect">
            <a:avLst/>
          </a:prstGeom>
          <a:noFill/>
        </p:spPr>
        <p:txBody>
          <a:bodyPr wrap="square">
            <a:spAutoFit/>
          </a:bodyPr>
          <a:lstStyle/>
          <a:p>
            <a:pPr>
              <a:spcAft>
                <a:spcPts val="600"/>
              </a:spcAft>
              <a:defRPr sz="1050">
                <a:solidFill>
                  <a:srgbClr val="1E293B"/>
                </a:solidFill>
                <a:latin typeface="Arial"/>
              </a:defRPr>
            </a:pPr>
            <a:r>
              <a:t>•  Độ lợi công suất vượt bậc: MIMO 2x2 STBC chỉ cần 7.4 dB để đạt BER = 10^-3, tiết kiệm tới 16.5 dB so với SISO (23.9 dB).</a:t>
            </a:r>
          </a:p>
          <a:p>
            <a:pPr>
              <a:spcAft>
                <a:spcPts val="600"/>
              </a:spcAft>
              <a:defRPr sz="1050">
                <a:solidFill>
                  <a:srgbClr val="1E293B"/>
                </a:solidFill>
                <a:latin typeface="Arial"/>
              </a:defRPr>
            </a:pPr>
            <a:r>
              <a:t>•  Ý nghĩa thực tiễn: Giảm công suất phát của máy phát đi xấp xỉ 45 lần mà vẫn duy trì chất lượng đường truyền tương đương.</a:t>
            </a:r>
          </a:p>
        </p:txBody>
      </p:sp>
      <p:sp>
        <p:nvSpPr>
          <p:cNvPr id="11" name="Rectangle 10"/>
          <p:cNvSpPr/>
          <p:nvPr/>
        </p:nvSpPr>
        <p:spPr>
          <a:xfrm>
            <a:off x="6675120" y="1371600"/>
            <a:ext cx="478505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371600"/>
            <a:ext cx="478505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BẢN CHẤT CÁC THÀNH PHẦN ĐỘ LỢI</a:t>
            </a:r>
          </a:p>
        </p:txBody>
      </p:sp>
      <p:sp>
        <p:nvSpPr>
          <p:cNvPr id="13" name="TextBox 12"/>
          <p:cNvSpPr txBox="1"/>
          <p:nvPr/>
        </p:nvSpPr>
        <p:spPr>
          <a:xfrm>
            <a:off x="6766560" y="1828800"/>
            <a:ext cx="4572000" cy="4206240"/>
          </a:xfrm>
          <a:prstGeom prst="rect">
            <a:avLst/>
          </a:prstGeom>
          <a:noFill/>
        </p:spPr>
        <p:txBody>
          <a:bodyPr wrap="square">
            <a:spAutoFit/>
          </a:bodyPr>
          <a:lstStyle/>
          <a:p>
            <a:pPr>
              <a:spcAft>
                <a:spcPts val="700"/>
              </a:spcAft>
              <a:defRPr sz="1050">
                <a:solidFill>
                  <a:srgbClr val="1E293B"/>
                </a:solidFill>
                <a:latin typeface="Arial"/>
              </a:defRPr>
            </a:pPr>
            <a:r>
              <a:t>•  Độ lợi phân tập (Diversity Gain):</a:t>
            </a:r>
            <a:br/>
            <a:r>
              <a:t>Tăng bậc phân tập từ d=1 lên d=4 làm thay đổi căn bản độ dốc của đường cong BER, giúp loại bỏ hầu như hoàn toàn nguy cơ fading sâu đa đường.</a:t>
            </a:r>
          </a:p>
          <a:p>
            <a:pPr>
              <a:spcAft>
                <a:spcPts val="700"/>
              </a:spcAft>
              <a:defRPr sz="1050">
                <a:solidFill>
                  <a:srgbClr val="1E293B"/>
                </a:solidFill>
                <a:latin typeface="Arial"/>
              </a:defRPr>
            </a:pPr>
            <a:r>
              <a:t>•  Độ lợi mảng (Array Gain):</a:t>
            </a:r>
            <a:br/>
            <a:r>
              <a:t>Nhờ có 2 anten thu (N_r = 2), công suất tín hiệu thu thập tăng gấp 2 lần (+3 dB độ lợi mảng), giải thích vì sao SIMO MRC tốt hơn MISO Alamouti đúng 3 dB dù cùng bậc phân tập d=2.</a:t>
            </a:r>
          </a:p>
          <a:p>
            <a:pPr>
              <a:spcAft>
                <a:spcPts val="700"/>
              </a:spcAft>
              <a:defRPr sz="1050">
                <a:solidFill>
                  <a:srgbClr val="1E293B"/>
                </a:solidFill>
                <a:latin typeface="Arial"/>
              </a:defRPr>
            </a:pPr>
            <a:r>
              <a:t>•  Tác động thương mại viễn thông:</a:t>
            </a:r>
            <a:br/>
            <a:r>
              <a:t>Tiết kiệm 16.5 dB công suất đồng nghĩa với việc gia tăng thời lượng sử dụng pin của thiết bị di động, kéo dài tầm phủ sóng của trạm gốc, và giảm phát thải can nhiễu vào môi trường vô tuyến.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DUNG LƯỢNG KÊNH TRUYỀN</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Dung lượng Kênh truyền Shannon-Telatar của Hệ thống MIMO SDM</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15 / 21</a:t>
            </a:r>
          </a:p>
        </p:txBody>
      </p:sp>
      <p:sp>
        <p:nvSpPr>
          <p:cNvPr id="7" name="Rectangle 6"/>
          <p:cNvSpPr/>
          <p:nvPr/>
        </p:nvSpPr>
        <p:spPr>
          <a:xfrm>
            <a:off x="731520" y="1371600"/>
            <a:ext cx="10728655" cy="914400"/>
          </a:xfrm>
          <a:prstGeom prst="rect">
            <a:avLst/>
          </a:prstGeom>
          <a:solidFill>
            <a:srgbClr val="FFFFFF"/>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1417320"/>
            <a:ext cx="10545775" cy="822960"/>
          </a:xfrm>
          <a:prstGeom prst="rect">
            <a:avLst/>
          </a:prstGeom>
          <a:noFill/>
        </p:spPr>
        <p:txBody>
          <a:bodyPr wrap="square">
            <a:spAutoFit/>
          </a:bodyPr>
          <a:lstStyle/>
          <a:p>
            <a:pPr>
              <a:defRPr sz="1100" b="1">
                <a:solidFill>
                  <a:srgbClr val="00A896"/>
                </a:solidFill>
                <a:latin typeface="Arial"/>
              </a:defRPr>
            </a:pPr>
            <a:r>
              <a:t>CÔNG THỨC SHANNON-TELATAR CHO KÊNH TRUYỀN MIMO</a:t>
            </a:r>
          </a:p>
          <a:p>
            <a:pPr>
              <a:defRPr sz="1200" b="1">
                <a:solidFill>
                  <a:srgbClr val="002B49"/>
                </a:solidFill>
                <a:latin typeface="Arial"/>
              </a:defRPr>
            </a:pPr>
            <a:r>
              <a:t>C = log2 det( I_Nr + (1/σ_n^2) H R_x H^H ) = ∑_{i=1}^r log2( 1 + (p_i σ_i^2) / σ_n^2 )   với   r = min(N_t, N_r) = 2</a:t>
            </a:r>
          </a:p>
        </p:txBody>
      </p:sp>
      <p:sp>
        <p:nvSpPr>
          <p:cNvPr id="9" name="Rectangle 8"/>
          <p:cNvSpPr/>
          <p:nvPr/>
        </p:nvSpPr>
        <p:spPr>
          <a:xfrm>
            <a:off x="731520" y="2468880"/>
            <a:ext cx="5212080" cy="374903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46888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KÊNH SISO — TĂNG TRƯỞNG LOGARIT</a:t>
            </a:r>
          </a:p>
        </p:txBody>
      </p:sp>
      <p:sp>
        <p:nvSpPr>
          <p:cNvPr id="11" name="TextBox 10"/>
          <p:cNvSpPr txBox="1"/>
          <p:nvPr/>
        </p:nvSpPr>
        <p:spPr>
          <a:xfrm>
            <a:off x="822960" y="2926080"/>
            <a:ext cx="5029200" cy="3108960"/>
          </a:xfrm>
          <a:prstGeom prst="rect">
            <a:avLst/>
          </a:prstGeom>
          <a:noFill/>
        </p:spPr>
        <p:txBody>
          <a:bodyPr wrap="square">
            <a:spAutoFit/>
          </a:bodyPr>
          <a:lstStyle/>
          <a:p>
            <a:pPr>
              <a:spcAft>
                <a:spcPts val="700"/>
              </a:spcAft>
              <a:defRPr sz="1100">
                <a:solidFill>
                  <a:srgbClr val="1E293B"/>
                </a:solidFill>
                <a:latin typeface="Arial"/>
              </a:defRPr>
            </a:pPr>
            <a:r>
              <a:t>•  Công thức dung lượng: C_SISO = log2(1 + SNR) bps/Hz.</a:t>
            </a:r>
          </a:p>
          <a:p>
            <a:pPr>
              <a:spcAft>
                <a:spcPts val="700"/>
              </a:spcAft>
              <a:defRPr sz="1100">
                <a:solidFill>
                  <a:srgbClr val="1E293B"/>
                </a:solidFill>
                <a:latin typeface="Arial"/>
              </a:defRPr>
            </a:pPr>
            <a:r>
              <a:t>•  Tăng trưởng tiệm cận: Ở dải SNR cao, dung lượng tăng theo hàm logarit:</a:t>
            </a:r>
            <a:br/>
            <a:r>
              <a:t>  C_SISO ≈ log2(SNR)</a:t>
            </a:r>
          </a:p>
          <a:p>
            <a:pPr>
              <a:spcAft>
                <a:spcPts val="700"/>
              </a:spcAft>
              <a:defRPr sz="1100">
                <a:solidFill>
                  <a:srgbClr val="1E293B"/>
                </a:solidFill>
                <a:latin typeface="Arial"/>
              </a:defRPr>
            </a:pPr>
            <a:r>
              <a:t>•  Độ dốc công suất: Cứ tăng gấp đôi công suất phát (+3 dB) thì dung lượng chỉ tăng thêm đúng 1 bps/Hz.</a:t>
            </a:r>
          </a:p>
          <a:p>
            <a:pPr>
              <a:spcAft>
                <a:spcPts val="700"/>
              </a:spcAft>
              <a:defRPr sz="1100">
                <a:solidFill>
                  <a:srgbClr val="1E293B"/>
                </a:solidFill>
                <a:latin typeface="Arial"/>
              </a:defRPr>
            </a:pPr>
            <a:r>
              <a:t>•  Nút thắt thắt cổ chai: Không thể đáp ứng nhu cầu dữ liệu tốc độ cực cao trong các mạng thế hệ mới nếu chỉ dựa vào tăng công suất đơn anten.</a:t>
            </a:r>
          </a:p>
        </p:txBody>
      </p:sp>
      <p:sp>
        <p:nvSpPr>
          <p:cNvPr id="12" name="Rectangle 11"/>
          <p:cNvSpPr/>
          <p:nvPr/>
        </p:nvSpPr>
        <p:spPr>
          <a:xfrm>
            <a:off x="6248095" y="2468880"/>
            <a:ext cx="5212080" cy="3749039"/>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8095" y="246888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KÊNH MIMO 2X2 SDM — TĂNG TRƯỞNG TUYẾN TÍNH</a:t>
            </a:r>
          </a:p>
        </p:txBody>
      </p:sp>
      <p:sp>
        <p:nvSpPr>
          <p:cNvPr id="14" name="TextBox 13"/>
          <p:cNvSpPr txBox="1"/>
          <p:nvPr/>
        </p:nvSpPr>
        <p:spPr>
          <a:xfrm>
            <a:off x="6339535" y="2926080"/>
            <a:ext cx="5029200" cy="3108960"/>
          </a:xfrm>
          <a:prstGeom prst="rect">
            <a:avLst/>
          </a:prstGeom>
          <a:noFill/>
        </p:spPr>
        <p:txBody>
          <a:bodyPr wrap="square">
            <a:spAutoFit/>
          </a:bodyPr>
          <a:lstStyle/>
          <a:p>
            <a:pPr>
              <a:spcAft>
                <a:spcPts val="700"/>
              </a:spcAft>
              <a:defRPr sz="1100">
                <a:solidFill>
                  <a:srgbClr val="1E293B"/>
                </a:solidFill>
                <a:latin typeface="Arial"/>
              </a:defRPr>
            </a:pPr>
            <a:r>
              <a:t>•  Công thức dung lượng (EPA):</a:t>
            </a:r>
            <a:br/>
            <a:r>
              <a:t>  C_MIMO = log2(1 + (SNR/2) σ_1^2) + log2(1 + (SNR/2) σ_2^2)</a:t>
            </a:r>
          </a:p>
          <a:p>
            <a:pPr>
              <a:spcAft>
                <a:spcPts val="700"/>
              </a:spcAft>
              <a:defRPr sz="1100">
                <a:solidFill>
                  <a:srgbClr val="1E293B"/>
                </a:solidFill>
                <a:latin typeface="Arial"/>
              </a:defRPr>
            </a:pPr>
            <a:r>
              <a:t>•  Độ dốc nhân đôi ở SNR cao:</a:t>
            </a:r>
            <a:br/>
            <a:r>
              <a:t>  C_MIMO ≈ 2 * log2(SNR) + C_offset</a:t>
            </a:r>
            <a:br/>
            <a:r>
              <a:t>  =&gt; Mỗi +3 dB công suất mang lại 2 bps/Hz (Gấp đôi SISO!).</a:t>
            </a:r>
          </a:p>
          <a:p>
            <a:pPr>
              <a:spcAft>
                <a:spcPts val="700"/>
              </a:spcAft>
              <a:defRPr sz="1100">
                <a:solidFill>
                  <a:srgbClr val="1E293B"/>
                </a:solidFill>
                <a:latin typeface="Arial"/>
              </a:defRPr>
            </a:pPr>
            <a:r>
              <a:t>•  Hiệu quả phổ tối đa: Khai thác không gian như một chiều tài nguyên mới, nhân đôi thông lượng dữ liệu mà hoàn toàn không tốn thêm băng thông tần số.</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TỐI ƯU CÔNG SUẤT</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Tối ưu hóa Phân bổ Công suất bằng Thuật toán Water-filling</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16 / 21</a:t>
            </a:r>
          </a:p>
        </p:txBody>
      </p:sp>
      <p:sp>
        <p:nvSpPr>
          <p:cNvPr id="7" name="Rectangle 6"/>
          <p:cNvSpPr/>
          <p:nvPr/>
        </p:nvSpPr>
        <p:spPr>
          <a:xfrm>
            <a:off x="731520" y="1371600"/>
            <a:ext cx="502920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02920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NGUYÊN LÝ THUẬT TOÁN WATER-FILLING</a:t>
            </a:r>
          </a:p>
        </p:txBody>
      </p:sp>
      <p:sp>
        <p:nvSpPr>
          <p:cNvPr id="9" name="TextBox 8"/>
          <p:cNvSpPr txBox="1"/>
          <p:nvPr/>
        </p:nvSpPr>
        <p:spPr>
          <a:xfrm>
            <a:off x="822960" y="1828800"/>
            <a:ext cx="4846320" cy="4206240"/>
          </a:xfrm>
          <a:prstGeom prst="rect">
            <a:avLst/>
          </a:prstGeom>
          <a:noFill/>
        </p:spPr>
        <p:txBody>
          <a:bodyPr wrap="square">
            <a:spAutoFit/>
          </a:bodyPr>
          <a:lstStyle/>
          <a:p>
            <a:pPr>
              <a:spcAft>
                <a:spcPts val="600"/>
              </a:spcAft>
              <a:defRPr sz="1000">
                <a:solidFill>
                  <a:srgbClr val="1E293B"/>
                </a:solidFill>
                <a:latin typeface="Arial"/>
              </a:defRPr>
            </a:pPr>
            <a:r>
              <a:t>•  Bài toán tối ưu hóa lồi:</a:t>
            </a:r>
            <a:br/>
            <a:r>
              <a:t>  max ∑_{i=1}^2 log2( 1 + p_i σ_i^2 / N0 )  thỏa  p1 + p2 = P_t</a:t>
            </a:r>
          </a:p>
          <a:p>
            <a:pPr>
              <a:spcAft>
                <a:spcPts val="600"/>
              </a:spcAft>
              <a:defRPr sz="1000">
                <a:solidFill>
                  <a:srgbClr val="1E293B"/>
                </a:solidFill>
                <a:latin typeface="Arial"/>
              </a:defRPr>
            </a:pPr>
            <a:r>
              <a:t>•  Lời giải Kuhn-Tucker (KKT):</a:t>
            </a:r>
            <a:br/>
            <a:r>
              <a:t>  p_i = max( 0,  μ - N0 / σ_i^2 )   (Mức ngập nước μ)</a:t>
            </a:r>
          </a:p>
          <a:p>
            <a:pPr>
              <a:spcAft>
                <a:spcPts val="600"/>
              </a:spcAft>
              <a:defRPr sz="1000">
                <a:solidFill>
                  <a:srgbClr val="1E293B"/>
                </a:solidFill>
                <a:latin typeface="Arial"/>
              </a:defRPr>
            </a:pPr>
            <a:r>
              <a:t>•  Mức chênh lệch đáy bồn trên kênh H = [0.7 0.3; 0.4 0.6]:</a:t>
            </a:r>
            <a:br/>
            <a:r>
              <a:t>  Δ = 1/σ_2^2 - 1/σ_1^2 = 11.358 - 0.988 = 10.370</a:t>
            </a:r>
            <a:br/>
            <a:r>
              <a:t>  =&gt; Tương ứng với ngưỡng SNR_th ≈ 10.15 dB</a:t>
            </a:r>
          </a:p>
          <a:p>
            <a:pPr>
              <a:spcAft>
                <a:spcPts val="600"/>
              </a:spcAft>
              <a:defRPr sz="1000">
                <a:solidFill>
                  <a:srgbClr val="1E293B"/>
                </a:solidFill>
                <a:latin typeface="Arial"/>
              </a:defRPr>
            </a:pPr>
            <a:r>
              <a:t>•  Hai chế độ hoạt động rõ rệt:</a:t>
            </a:r>
            <a:br/>
            <a:r>
              <a:t>  • SNR ≤ 10.15 dB: Nước chưa ngập đáy 2 =&gt; p1 = P_t, p2 = 0.</a:t>
            </a:r>
            <a:br/>
            <a:r>
              <a:t>    Hệ thống tự động chuyển sang chế độ Eigen-Beamforming (dồn 100% công suất vào kênh con mạnh nhất).</a:t>
            </a:r>
            <a:br/>
            <a:r>
              <a:t>  • SNR &gt; 10.15 dB: Nước tràn sang đáy 2 =&gt; Cả 2 kênh con đều có công suất. Chuyển sang Ghép kênh đa luồng.</a:t>
            </a:r>
          </a:p>
          <a:p>
            <a:pPr>
              <a:spcAft>
                <a:spcPts val="600"/>
              </a:spcAft>
              <a:defRPr sz="1000">
                <a:solidFill>
                  <a:srgbClr val="1E293B"/>
                </a:solidFill>
                <a:latin typeface="Arial"/>
              </a:defRPr>
            </a:pPr>
            <a:r>
              <a:t>•  Tiệm cận: Khi SNR → ∞, tỷ lệ p1/p2 → 1, Water-filling hội tụ hoàn toàn về phân bổ đều (EPA).</a:t>
            </a:r>
          </a:p>
        </p:txBody>
      </p:sp>
      <p:sp>
        <p:nvSpPr>
          <p:cNvPr id="10" name="Rectangle 9"/>
          <p:cNvSpPr/>
          <p:nvPr/>
        </p:nvSpPr>
        <p:spPr>
          <a:xfrm>
            <a:off x="6035040" y="1371600"/>
            <a:ext cx="542513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35040" y="1371600"/>
            <a:ext cx="542513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MINH HỌA PHÂN BỔ CÔNG SUẤT WATER-FILLING</a:t>
            </a:r>
          </a:p>
        </p:txBody>
      </p:sp>
      <p:pic>
        <p:nvPicPr>
          <p:cNvPr id="12" name="Picture 11" descr="fig5_waterfilling_allocation.png"/>
          <p:cNvPicPr>
            <a:picLocks noChangeAspect="1"/>
          </p:cNvPicPr>
          <p:nvPr/>
        </p:nvPicPr>
        <p:blipFill>
          <a:blip r:embed="rId2"/>
          <a:stretch>
            <a:fillRect/>
          </a:stretch>
        </p:blipFill>
        <p:spPr>
          <a:xfrm>
            <a:off x="6172200" y="2103120"/>
            <a:ext cx="5150815" cy="1609630"/>
          </a:xfrm>
          <a:prstGeom prst="rect">
            <a:avLst/>
          </a:prstGeom>
        </p:spPr>
      </p:pic>
      <p:sp>
        <p:nvSpPr>
          <p:cNvPr id="13" name="TextBox 12"/>
          <p:cNvSpPr txBox="1"/>
          <p:nvPr/>
        </p:nvSpPr>
        <p:spPr>
          <a:xfrm>
            <a:off x="6172200" y="5394960"/>
            <a:ext cx="5150815" cy="640080"/>
          </a:xfrm>
          <a:prstGeom prst="rect">
            <a:avLst/>
          </a:prstGeom>
          <a:noFill/>
        </p:spPr>
        <p:txBody>
          <a:bodyPr wrap="square">
            <a:spAutoFit/>
          </a:bodyPr>
          <a:lstStyle/>
          <a:p>
            <a:pPr algn="ctr">
              <a:defRPr sz="950">
                <a:solidFill>
                  <a:srgbClr val="64748B"/>
                </a:solidFill>
                <a:latin typeface="Arial"/>
              </a:defRPr>
            </a:pPr>
            <a:r>
              <a:t>Hình 4.2: Minh họa phân bổ công suất tối ưu Water-filling trên kênh MIMO 2x2 (Ngưỡng chuyển tiếp chế độ 10.15 dB).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DUNG LƯỢNG KÊNH TRUYỀN</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Đồ thị So sánh Dung lượng Kênh truyền: SISO vs MIMO 2x2 SDM</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17 / 21</a:t>
            </a:r>
          </a:p>
        </p:txBody>
      </p:sp>
      <p:sp>
        <p:nvSpPr>
          <p:cNvPr id="7" name="Rectangle 6"/>
          <p:cNvSpPr/>
          <p:nvPr/>
        </p:nvSpPr>
        <p:spPr>
          <a:xfrm>
            <a:off x="731520" y="1371600"/>
            <a:ext cx="5669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669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ĐỒ THỊ KHẢO SÁT DUNG LƯỢNG SHANNON</a:t>
            </a:r>
          </a:p>
        </p:txBody>
      </p:sp>
      <p:pic>
        <p:nvPicPr>
          <p:cNvPr id="9" name="Picture 8" descr="fig4_capacity_sdm_comparison.png"/>
          <p:cNvPicPr>
            <a:picLocks noChangeAspect="1"/>
          </p:cNvPicPr>
          <p:nvPr/>
        </p:nvPicPr>
        <p:blipFill>
          <a:blip r:embed="rId2"/>
          <a:stretch>
            <a:fillRect/>
          </a:stretch>
        </p:blipFill>
        <p:spPr>
          <a:xfrm>
            <a:off x="868680" y="1874519"/>
            <a:ext cx="5394960" cy="3506724"/>
          </a:xfrm>
          <a:prstGeom prst="rect">
            <a:avLst/>
          </a:prstGeom>
        </p:spPr>
      </p:pic>
      <p:sp>
        <p:nvSpPr>
          <p:cNvPr id="10" name="TextBox 9"/>
          <p:cNvSpPr txBox="1"/>
          <p:nvPr/>
        </p:nvSpPr>
        <p:spPr>
          <a:xfrm>
            <a:off x="868680" y="5532120"/>
            <a:ext cx="5394960" cy="548640"/>
          </a:xfrm>
          <a:prstGeom prst="rect">
            <a:avLst/>
          </a:prstGeom>
          <a:noFill/>
        </p:spPr>
        <p:txBody>
          <a:bodyPr wrap="square">
            <a:spAutoFit/>
          </a:bodyPr>
          <a:lstStyle/>
          <a:p>
            <a:pPr algn="ctr">
              <a:defRPr sz="950">
                <a:solidFill>
                  <a:srgbClr val="64748B"/>
                </a:solidFill>
                <a:latin typeface="Arial"/>
              </a:defRPr>
            </a:pPr>
            <a:r>
              <a:t>Hình 4.1: So sánh dung lượng kênh truyền Shannon giữa SISO và MIMO 2x2 SDM (EPA và Water-filling).</a:t>
            </a:r>
          </a:p>
        </p:txBody>
      </p:sp>
      <p:sp>
        <p:nvSpPr>
          <p:cNvPr id="11" name="Rectangle 10"/>
          <p:cNvSpPr/>
          <p:nvPr/>
        </p:nvSpPr>
        <p:spPr>
          <a:xfrm>
            <a:off x="6675120" y="1371600"/>
            <a:ext cx="478505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675120" y="1371600"/>
            <a:ext cx="478505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BẢNG SỐ LIỆU ĐỐI CHIẾU DUNG LƯỢNG (BPS/HZ)</a:t>
            </a:r>
          </a:p>
        </p:txBody>
      </p:sp>
      <p:graphicFrame>
        <p:nvGraphicFramePr>
          <p:cNvPr id="13" name="Table 12"/>
          <p:cNvGraphicFramePr>
            <a:graphicFrameLocks noGrp="1"/>
          </p:cNvGraphicFramePr>
          <p:nvPr/>
        </p:nvGraphicFramePr>
        <p:xfrm>
          <a:off x="6812280" y="1920240"/>
          <a:ext cx="4480560" cy="2194560"/>
        </p:xfrm>
        <a:graphic>
          <a:graphicData uri="http://schemas.openxmlformats.org/drawingml/2006/table">
            <a:tbl>
              <a:tblPr firstRow="1" bandRow="1">
                <a:tableStyleId>{5C22544A-7EE6-4342-B048-85BDC9FD1C3A}</a:tableStyleId>
              </a:tblPr>
              <a:tblGrid>
                <a:gridCol w="914400"/>
                <a:gridCol w="822960"/>
                <a:gridCol w="914400"/>
                <a:gridCol w="914400"/>
                <a:gridCol w="914400"/>
              </a:tblGrid>
              <a:tr h="365760">
                <a:tc>
                  <a:txBody>
                    <a:bodyPr/>
                    <a:lstStyle/>
                    <a:p>
                      <a:pPr algn="ctr">
                        <a:defRPr sz="1000" b="1">
                          <a:solidFill>
                            <a:srgbClr val="FFFFFF"/>
                          </a:solidFill>
                          <a:latin typeface="Arial"/>
                        </a:defRPr>
                      </a:pPr>
                      <a:r>
                        <a:t>SNR</a:t>
                      </a:r>
                    </a:p>
                  </a:txBody>
                  <a:tcPr anchor="ctr">
                    <a:solidFill>
                      <a:srgbClr val="002B49"/>
                    </a:solidFill>
                  </a:tcPr>
                </a:tc>
                <a:tc>
                  <a:txBody>
                    <a:bodyPr/>
                    <a:lstStyle/>
                    <a:p>
                      <a:pPr algn="ctr">
                        <a:defRPr sz="1000" b="1">
                          <a:solidFill>
                            <a:srgbClr val="FFFFFF"/>
                          </a:solidFill>
                          <a:latin typeface="Arial"/>
                        </a:defRPr>
                      </a:pPr>
                      <a:r>
                        <a:t>SISO</a:t>
                      </a:r>
                    </a:p>
                  </a:txBody>
                  <a:tcPr anchor="ctr">
                    <a:solidFill>
                      <a:srgbClr val="002B49"/>
                    </a:solidFill>
                  </a:tcPr>
                </a:tc>
                <a:tc>
                  <a:txBody>
                    <a:bodyPr/>
                    <a:lstStyle/>
                    <a:p>
                      <a:pPr algn="ctr">
                        <a:defRPr sz="1000" b="1">
                          <a:solidFill>
                            <a:srgbClr val="FFFFFF"/>
                          </a:solidFill>
                          <a:latin typeface="Arial"/>
                        </a:defRPr>
                      </a:pPr>
                      <a:r>
                        <a:t>MIMO EPA</a:t>
                      </a:r>
                    </a:p>
                  </a:txBody>
                  <a:tcPr anchor="ctr">
                    <a:solidFill>
                      <a:srgbClr val="002B49"/>
                    </a:solidFill>
                  </a:tcPr>
                </a:tc>
                <a:tc>
                  <a:txBody>
                    <a:bodyPr/>
                    <a:lstStyle/>
                    <a:p>
                      <a:pPr algn="ctr">
                        <a:defRPr sz="1000" b="1">
                          <a:solidFill>
                            <a:srgbClr val="FFFFFF"/>
                          </a:solidFill>
                          <a:latin typeface="Arial"/>
                        </a:defRPr>
                      </a:pPr>
                      <a:r>
                        <a:t>MIMO WF</a:t>
                      </a:r>
                    </a:p>
                  </a:txBody>
                  <a:tcPr anchor="ctr">
                    <a:solidFill>
                      <a:srgbClr val="002B49"/>
                    </a:solidFill>
                  </a:tcPr>
                </a:tc>
                <a:tc>
                  <a:txBody>
                    <a:bodyPr/>
                    <a:lstStyle/>
                    <a:p>
                      <a:pPr algn="ctr">
                        <a:defRPr sz="1000" b="1">
                          <a:solidFill>
                            <a:srgbClr val="FFFFFF"/>
                          </a:solidFill>
                          <a:latin typeface="Arial"/>
                        </a:defRPr>
                      </a:pPr>
                      <a:r>
                        <a:t>Ergodic WF</a:t>
                      </a:r>
                    </a:p>
                  </a:txBody>
                  <a:tcPr anchor="ctr">
                    <a:solidFill>
                      <a:srgbClr val="002B49"/>
                    </a:solidFill>
                  </a:tcPr>
                </a:tc>
              </a:tr>
              <a:tr h="365760">
                <a:tc>
                  <a:txBody>
                    <a:bodyPr/>
                    <a:lstStyle/>
                    <a:p>
                      <a:pPr algn="ctr">
                        <a:defRPr sz="950">
                          <a:solidFill>
                            <a:srgbClr val="1E293B"/>
                          </a:solidFill>
                          <a:latin typeface="Arial"/>
                        </a:defRPr>
                      </a:pPr>
                      <a:r>
                        <a:t>-10 dB</a:t>
                      </a:r>
                    </a:p>
                  </a:txBody>
                  <a:tcPr anchor="ctr">
                    <a:solidFill>
                      <a:srgbClr val="F1F5F9"/>
                    </a:solidFill>
                  </a:tcPr>
                </a:tc>
                <a:tc>
                  <a:txBody>
                    <a:bodyPr/>
                    <a:lstStyle/>
                    <a:p>
                      <a:pPr algn="ctr">
                        <a:defRPr sz="950">
                          <a:solidFill>
                            <a:srgbClr val="1E293B"/>
                          </a:solidFill>
                          <a:latin typeface="Arial"/>
                        </a:defRPr>
                      </a:pPr>
                      <a:r>
                        <a:t>0.14</a:t>
                      </a:r>
                    </a:p>
                  </a:txBody>
                  <a:tcPr anchor="ctr">
                    <a:solidFill>
                      <a:srgbClr val="F1F5F9"/>
                    </a:solidFill>
                  </a:tcPr>
                </a:tc>
                <a:tc>
                  <a:txBody>
                    <a:bodyPr/>
                    <a:lstStyle/>
                    <a:p>
                      <a:pPr algn="ctr">
                        <a:defRPr sz="950">
                          <a:solidFill>
                            <a:srgbClr val="1E293B"/>
                          </a:solidFill>
                          <a:latin typeface="Arial"/>
                        </a:defRPr>
                      </a:pPr>
                      <a:r>
                        <a:t>0.08</a:t>
                      </a:r>
                    </a:p>
                  </a:txBody>
                  <a:tcPr anchor="ctr">
                    <a:solidFill>
                      <a:srgbClr val="F1F5F9"/>
                    </a:solidFill>
                  </a:tcPr>
                </a:tc>
                <a:tc>
                  <a:txBody>
                    <a:bodyPr/>
                    <a:lstStyle/>
                    <a:p>
                      <a:pPr algn="ctr">
                        <a:defRPr sz="950">
                          <a:solidFill>
                            <a:srgbClr val="1E293B"/>
                          </a:solidFill>
                          <a:latin typeface="Arial"/>
                        </a:defRPr>
                      </a:pPr>
                      <a:r>
                        <a:t>0.14</a:t>
                      </a:r>
                    </a:p>
                  </a:txBody>
                  <a:tcPr anchor="ctr">
                    <a:solidFill>
                      <a:srgbClr val="F1F5F9"/>
                    </a:solidFill>
                  </a:tcPr>
                </a:tc>
                <a:tc>
                  <a:txBody>
                    <a:bodyPr/>
                    <a:lstStyle/>
                    <a:p>
                      <a:pPr algn="ctr">
                        <a:defRPr sz="950">
                          <a:solidFill>
                            <a:srgbClr val="1E293B"/>
                          </a:solidFill>
                          <a:latin typeface="Arial"/>
                        </a:defRPr>
                      </a:pPr>
                      <a:r>
                        <a:t>0.42</a:t>
                      </a:r>
                    </a:p>
                  </a:txBody>
                  <a:tcPr anchor="ctr">
                    <a:solidFill>
                      <a:srgbClr val="F1F5F9"/>
                    </a:solidFill>
                  </a:tcPr>
                </a:tc>
              </a:tr>
              <a:tr h="365760">
                <a:tc>
                  <a:txBody>
                    <a:bodyPr/>
                    <a:lstStyle/>
                    <a:p>
                      <a:pPr algn="ctr">
                        <a:defRPr sz="950">
                          <a:solidFill>
                            <a:srgbClr val="1E293B"/>
                          </a:solidFill>
                          <a:latin typeface="Arial"/>
                        </a:defRPr>
                      </a:pPr>
                      <a:r>
                        <a:t>0 dB</a:t>
                      </a:r>
                    </a:p>
                  </a:txBody>
                  <a:tcPr anchor="ctr">
                    <a:solidFill>
                      <a:srgbClr val="FFFFFF"/>
                    </a:solidFill>
                  </a:tcPr>
                </a:tc>
                <a:tc>
                  <a:txBody>
                    <a:bodyPr/>
                    <a:lstStyle/>
                    <a:p>
                      <a:pPr algn="ctr">
                        <a:defRPr sz="950">
                          <a:solidFill>
                            <a:srgbClr val="1E293B"/>
                          </a:solidFill>
                          <a:latin typeface="Arial"/>
                        </a:defRPr>
                      </a:pPr>
                      <a:r>
                        <a:t>1.00</a:t>
                      </a:r>
                    </a:p>
                  </a:txBody>
                  <a:tcPr anchor="ctr">
                    <a:solidFill>
                      <a:srgbClr val="FFFFFF"/>
                    </a:solidFill>
                  </a:tcPr>
                </a:tc>
                <a:tc>
                  <a:txBody>
                    <a:bodyPr/>
                    <a:lstStyle/>
                    <a:p>
                      <a:pPr algn="ctr">
                        <a:defRPr sz="950">
                          <a:solidFill>
                            <a:srgbClr val="1E293B"/>
                          </a:solidFill>
                          <a:latin typeface="Arial"/>
                        </a:defRPr>
                      </a:pPr>
                      <a:r>
                        <a:t>0.65</a:t>
                      </a:r>
                    </a:p>
                  </a:txBody>
                  <a:tcPr anchor="ctr">
                    <a:solidFill>
                      <a:srgbClr val="FFFFFF"/>
                    </a:solidFill>
                  </a:tcPr>
                </a:tc>
                <a:tc>
                  <a:txBody>
                    <a:bodyPr/>
                    <a:lstStyle/>
                    <a:p>
                      <a:pPr algn="ctr">
                        <a:defRPr sz="950">
                          <a:solidFill>
                            <a:srgbClr val="1E293B"/>
                          </a:solidFill>
                          <a:latin typeface="Arial"/>
                        </a:defRPr>
                      </a:pPr>
                      <a:r>
                        <a:t>1.01</a:t>
                      </a:r>
                    </a:p>
                  </a:txBody>
                  <a:tcPr anchor="ctr">
                    <a:solidFill>
                      <a:srgbClr val="FFFFFF"/>
                    </a:solidFill>
                  </a:tcPr>
                </a:tc>
                <a:tc>
                  <a:txBody>
                    <a:bodyPr/>
                    <a:lstStyle/>
                    <a:p>
                      <a:pPr algn="ctr">
                        <a:defRPr sz="950">
                          <a:solidFill>
                            <a:srgbClr val="1E293B"/>
                          </a:solidFill>
                          <a:latin typeface="Arial"/>
                        </a:defRPr>
                      </a:pPr>
                      <a:r>
                        <a:t>2.08</a:t>
                      </a:r>
                    </a:p>
                  </a:txBody>
                  <a:tcPr anchor="ctr">
                    <a:solidFill>
                      <a:srgbClr val="FFFFFF"/>
                    </a:solidFill>
                  </a:tcPr>
                </a:tc>
              </a:tr>
              <a:tr h="365760">
                <a:tc>
                  <a:txBody>
                    <a:bodyPr/>
                    <a:lstStyle/>
                    <a:p>
                      <a:pPr algn="ctr">
                        <a:defRPr sz="950">
                          <a:solidFill>
                            <a:srgbClr val="1E293B"/>
                          </a:solidFill>
                          <a:latin typeface="Arial"/>
                        </a:defRPr>
                      </a:pPr>
                      <a:r>
                        <a:t>10 dB</a:t>
                      </a:r>
                    </a:p>
                  </a:txBody>
                  <a:tcPr anchor="ctr">
                    <a:solidFill>
                      <a:srgbClr val="F1F5F9"/>
                    </a:solidFill>
                  </a:tcPr>
                </a:tc>
                <a:tc>
                  <a:txBody>
                    <a:bodyPr/>
                    <a:lstStyle/>
                    <a:p>
                      <a:pPr algn="ctr">
                        <a:defRPr sz="950">
                          <a:solidFill>
                            <a:srgbClr val="1E293B"/>
                          </a:solidFill>
                          <a:latin typeface="Arial"/>
                        </a:defRPr>
                      </a:pPr>
                      <a:r>
                        <a:t>3.46</a:t>
                      </a:r>
                    </a:p>
                  </a:txBody>
                  <a:tcPr anchor="ctr">
                    <a:solidFill>
                      <a:srgbClr val="F1F5F9"/>
                    </a:solidFill>
                  </a:tcPr>
                </a:tc>
                <a:tc>
                  <a:txBody>
                    <a:bodyPr/>
                    <a:lstStyle/>
                    <a:p>
                      <a:pPr algn="ctr">
                        <a:defRPr sz="950">
                          <a:solidFill>
                            <a:srgbClr val="1E293B"/>
                          </a:solidFill>
                          <a:latin typeface="Arial"/>
                        </a:defRPr>
                      </a:pPr>
                      <a:r>
                        <a:t>3.13</a:t>
                      </a:r>
                    </a:p>
                  </a:txBody>
                  <a:tcPr anchor="ctr">
                    <a:solidFill>
                      <a:srgbClr val="F1F5F9"/>
                    </a:solidFill>
                  </a:tcPr>
                </a:tc>
                <a:tc>
                  <a:txBody>
                    <a:bodyPr/>
                    <a:lstStyle/>
                    <a:p>
                      <a:pPr algn="ctr">
                        <a:defRPr sz="950">
                          <a:solidFill>
                            <a:srgbClr val="1E293B"/>
                          </a:solidFill>
                          <a:latin typeface="Arial"/>
                        </a:defRPr>
                      </a:pPr>
                      <a:r>
                        <a:t>3.47</a:t>
                      </a:r>
                    </a:p>
                  </a:txBody>
                  <a:tcPr anchor="ctr">
                    <a:solidFill>
                      <a:srgbClr val="F1F5F9"/>
                    </a:solidFill>
                  </a:tcPr>
                </a:tc>
                <a:tc>
                  <a:txBody>
                    <a:bodyPr/>
                    <a:lstStyle/>
                    <a:p>
                      <a:pPr algn="ctr">
                        <a:defRPr sz="950">
                          <a:solidFill>
                            <a:srgbClr val="1E293B"/>
                          </a:solidFill>
                          <a:latin typeface="Arial"/>
                        </a:defRPr>
                      </a:pPr>
                      <a:r>
                        <a:t>5.71</a:t>
                      </a:r>
                    </a:p>
                  </a:txBody>
                  <a:tcPr anchor="ctr">
                    <a:solidFill>
                      <a:srgbClr val="F1F5F9"/>
                    </a:solidFill>
                  </a:tcPr>
                </a:tc>
              </a:tr>
              <a:tr h="365760">
                <a:tc>
                  <a:txBody>
                    <a:bodyPr/>
                    <a:lstStyle/>
                    <a:p>
                      <a:pPr algn="ctr">
                        <a:defRPr sz="950">
                          <a:solidFill>
                            <a:srgbClr val="1E293B"/>
                          </a:solidFill>
                          <a:latin typeface="Arial"/>
                        </a:defRPr>
                      </a:pPr>
                      <a:r>
                        <a:t>20 dB</a:t>
                      </a:r>
                    </a:p>
                  </a:txBody>
                  <a:tcPr anchor="ctr">
                    <a:solidFill>
                      <a:srgbClr val="FFFFFF"/>
                    </a:solidFill>
                  </a:tcPr>
                </a:tc>
                <a:tc>
                  <a:txBody>
                    <a:bodyPr/>
                    <a:lstStyle/>
                    <a:p>
                      <a:pPr algn="ctr">
                        <a:defRPr sz="950">
                          <a:solidFill>
                            <a:srgbClr val="1E293B"/>
                          </a:solidFill>
                          <a:latin typeface="Arial"/>
                        </a:defRPr>
                      </a:pPr>
                      <a:r>
                        <a:t>6.66</a:t>
                      </a:r>
                    </a:p>
                  </a:txBody>
                  <a:tcPr anchor="ctr">
                    <a:solidFill>
                      <a:srgbClr val="FFFFFF"/>
                    </a:solidFill>
                  </a:tcPr>
                </a:tc>
                <a:tc>
                  <a:txBody>
                    <a:bodyPr/>
                    <a:lstStyle/>
                    <a:p>
                      <a:pPr algn="ctr">
                        <a:defRPr sz="950">
                          <a:solidFill>
                            <a:srgbClr val="1E293B"/>
                          </a:solidFill>
                          <a:latin typeface="Arial"/>
                        </a:defRPr>
                      </a:pPr>
                      <a:r>
                        <a:t>8.13</a:t>
                      </a:r>
                    </a:p>
                  </a:txBody>
                  <a:tcPr anchor="ctr">
                    <a:solidFill>
                      <a:srgbClr val="FFFFFF"/>
                    </a:solidFill>
                  </a:tcPr>
                </a:tc>
                <a:tc>
                  <a:txBody>
                    <a:bodyPr/>
                    <a:lstStyle/>
                    <a:p>
                      <a:pPr algn="ctr">
                        <a:defRPr sz="950">
                          <a:solidFill>
                            <a:srgbClr val="1E293B"/>
                          </a:solidFill>
                          <a:latin typeface="Arial"/>
                        </a:defRPr>
                      </a:pPr>
                      <a:r>
                        <a:t>8.15</a:t>
                      </a:r>
                    </a:p>
                  </a:txBody>
                  <a:tcPr anchor="ctr">
                    <a:solidFill>
                      <a:srgbClr val="FFFFFF"/>
                    </a:solidFill>
                  </a:tcPr>
                </a:tc>
                <a:tc>
                  <a:txBody>
                    <a:bodyPr/>
                    <a:lstStyle/>
                    <a:p>
                      <a:pPr algn="ctr">
                        <a:defRPr sz="950">
                          <a:solidFill>
                            <a:srgbClr val="1E293B"/>
                          </a:solidFill>
                          <a:latin typeface="Arial"/>
                        </a:defRPr>
                      </a:pPr>
                      <a:r>
                        <a:t>11.31</a:t>
                      </a:r>
                    </a:p>
                  </a:txBody>
                  <a:tcPr anchor="ctr">
                    <a:solidFill>
                      <a:srgbClr val="FFFFFF"/>
                    </a:solidFill>
                  </a:tcPr>
                </a:tc>
              </a:tr>
              <a:tr h="365760">
                <a:tc>
                  <a:txBody>
                    <a:bodyPr/>
                    <a:lstStyle/>
                    <a:p>
                      <a:pPr algn="ctr">
                        <a:defRPr sz="950">
                          <a:solidFill>
                            <a:srgbClr val="1E293B"/>
                          </a:solidFill>
                          <a:latin typeface="Arial"/>
                        </a:defRPr>
                      </a:pPr>
                      <a:r>
                        <a:t>30 dB</a:t>
                      </a:r>
                    </a:p>
                  </a:txBody>
                  <a:tcPr anchor="ctr">
                    <a:solidFill>
                      <a:srgbClr val="F1F5F9"/>
                    </a:solidFill>
                  </a:tcPr>
                </a:tc>
                <a:tc>
                  <a:txBody>
                    <a:bodyPr/>
                    <a:lstStyle/>
                    <a:p>
                      <a:pPr algn="ctr">
                        <a:defRPr sz="950">
                          <a:solidFill>
                            <a:srgbClr val="1E293B"/>
                          </a:solidFill>
                          <a:latin typeface="Arial"/>
                        </a:defRPr>
                      </a:pPr>
                      <a:r>
                        <a:t>9.97</a:t>
                      </a:r>
                    </a:p>
                  </a:txBody>
                  <a:tcPr anchor="ctr">
                    <a:solidFill>
                      <a:srgbClr val="F1F5F9"/>
                    </a:solidFill>
                  </a:tcPr>
                </a:tc>
                <a:tc>
                  <a:txBody>
                    <a:bodyPr/>
                    <a:lstStyle/>
                    <a:p>
                      <a:pPr algn="ctr">
                        <a:defRPr sz="950">
                          <a:solidFill>
                            <a:srgbClr val="1E293B"/>
                          </a:solidFill>
                          <a:latin typeface="Arial"/>
                        </a:defRPr>
                      </a:pPr>
                      <a:r>
                        <a:t>14.49</a:t>
                      </a:r>
                    </a:p>
                  </a:txBody>
                  <a:tcPr anchor="ctr">
                    <a:solidFill>
                      <a:srgbClr val="F1F5F9"/>
                    </a:solidFill>
                  </a:tcPr>
                </a:tc>
                <a:tc>
                  <a:txBody>
                    <a:bodyPr/>
                    <a:lstStyle/>
                    <a:p>
                      <a:pPr algn="ctr">
                        <a:defRPr sz="950">
                          <a:solidFill>
                            <a:srgbClr val="1E293B"/>
                          </a:solidFill>
                          <a:latin typeface="Arial"/>
                        </a:defRPr>
                      </a:pPr>
                      <a:r>
                        <a:t>14.49</a:t>
                      </a:r>
                    </a:p>
                  </a:txBody>
                  <a:tcPr anchor="ctr">
                    <a:solidFill>
                      <a:srgbClr val="F1F5F9"/>
                    </a:solidFill>
                  </a:tcPr>
                </a:tc>
                <a:tc>
                  <a:txBody>
                    <a:bodyPr/>
                    <a:lstStyle/>
                    <a:p>
                      <a:pPr algn="ctr">
                        <a:defRPr sz="950">
                          <a:solidFill>
                            <a:srgbClr val="1E293B"/>
                          </a:solidFill>
                          <a:latin typeface="Arial"/>
                        </a:defRPr>
                      </a:pPr>
                      <a:r>
                        <a:t>17.74</a:t>
                      </a:r>
                    </a:p>
                  </a:txBody>
                  <a:tcPr anchor="ctr">
                    <a:solidFill>
                      <a:srgbClr val="F1F5F9"/>
                    </a:solidFill>
                  </a:tcPr>
                </a:tc>
              </a:tr>
            </a:tbl>
          </a:graphicData>
        </a:graphic>
      </p:graphicFrame>
      <p:sp>
        <p:nvSpPr>
          <p:cNvPr id="14" name="TextBox 13"/>
          <p:cNvSpPr txBox="1"/>
          <p:nvPr/>
        </p:nvSpPr>
        <p:spPr>
          <a:xfrm>
            <a:off x="6812280" y="4297680"/>
            <a:ext cx="4480560" cy="1737360"/>
          </a:xfrm>
          <a:prstGeom prst="rect">
            <a:avLst/>
          </a:prstGeom>
          <a:noFill/>
        </p:spPr>
        <p:txBody>
          <a:bodyPr wrap="square">
            <a:spAutoFit/>
          </a:bodyPr>
          <a:lstStyle/>
          <a:p>
            <a:pPr>
              <a:spcAft>
                <a:spcPts val="500"/>
              </a:spcAft>
              <a:defRPr sz="1000">
                <a:solidFill>
                  <a:srgbClr val="1E293B"/>
                </a:solidFill>
                <a:latin typeface="Arial"/>
              </a:defRPr>
            </a:pPr>
            <a:r>
              <a:t>•  Vùng SNR thấp (&lt; 10 dB): EPA bị suy thoái do lãng phí công suất vào kênh con yếu (σ_2=0.297). Water-filling khắc phục triệt để bằng cách dồn lực cho kênh con mạnh.</a:t>
            </a:r>
          </a:p>
          <a:p>
            <a:pPr>
              <a:spcAft>
                <a:spcPts val="500"/>
              </a:spcAft>
              <a:defRPr sz="1000">
                <a:solidFill>
                  <a:srgbClr val="1E293B"/>
                </a:solidFill>
                <a:latin typeface="Arial"/>
              </a:defRPr>
            </a:pPr>
            <a:r>
              <a:t>•  Vùng SNR cao (&gt; 20 dB): MIMO 2x2 bứt phá vượt trội so với SISO (+4.52 bps/Hz tại 20 dB và +7.77 bps/Hz tại 30 dB trên kênh ergodic).</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ĐÁNH ĐỔI HỆ THỐNG</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Sự Đánh đổi giữa Độ lợi Phân tập và Tốc độ Ghép kênh (DMT)</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18 / 21</a:t>
            </a:r>
          </a:p>
        </p:txBody>
      </p:sp>
      <p:sp>
        <p:nvSpPr>
          <p:cNvPr id="7" name="Rectangle 6"/>
          <p:cNvSpPr/>
          <p:nvPr/>
        </p:nvSpPr>
        <p:spPr>
          <a:xfrm>
            <a:off x="731520" y="1371600"/>
            <a:ext cx="521208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52120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LÝ THUYẾT ĐÁNH ĐỔI CĂN BẢN ZHENG - TSE (2003)</a:t>
            </a:r>
          </a:p>
        </p:txBody>
      </p:sp>
      <p:sp>
        <p:nvSpPr>
          <p:cNvPr id="9" name="TextBox 8"/>
          <p:cNvSpPr txBox="1"/>
          <p:nvPr/>
        </p:nvSpPr>
        <p:spPr>
          <a:xfrm>
            <a:off x="822960" y="1828800"/>
            <a:ext cx="5029200" cy="2651760"/>
          </a:xfrm>
          <a:prstGeom prst="rect">
            <a:avLst/>
          </a:prstGeom>
          <a:noFill/>
        </p:spPr>
        <p:txBody>
          <a:bodyPr wrap="square">
            <a:spAutoFit/>
          </a:bodyPr>
          <a:lstStyle/>
          <a:p>
            <a:pPr>
              <a:spcAft>
                <a:spcPts val="600"/>
              </a:spcAft>
              <a:defRPr sz="1050">
                <a:solidFill>
                  <a:srgbClr val="1E293B"/>
                </a:solidFill>
                <a:latin typeface="Arial"/>
              </a:defRPr>
            </a:pPr>
            <a:r>
              <a:t>•  Hệ thức đánh đổi DMT cho hệ thống MIMO 2x2:</a:t>
            </a:r>
            <a:br/>
            <a:r>
              <a:t>  d(r) = (N_t - r)(N_r - r) = (2 - r)^2   với  0 ≤ r ≤ 2</a:t>
            </a:r>
          </a:p>
          <a:p>
            <a:pPr>
              <a:spcAft>
                <a:spcPts val="600"/>
              </a:spcAft>
              <a:defRPr sz="1050">
                <a:solidFill>
                  <a:srgbClr val="1E293B"/>
                </a:solidFill>
                <a:latin typeface="Arial"/>
              </a:defRPr>
            </a:pPr>
            <a:r>
              <a:t>•  Bản chất vật lý: Cùng một số lượng anten trong không gian, hệ thống không thể đồng thời tối đa hóa cả độ tin cậy và tốc độ truyền dữ liệu.</a:t>
            </a:r>
          </a:p>
          <a:p>
            <a:pPr>
              <a:spcAft>
                <a:spcPts val="600"/>
              </a:spcAft>
              <a:defRPr sz="1050">
                <a:solidFill>
                  <a:srgbClr val="1E293B"/>
                </a:solidFill>
                <a:latin typeface="Arial"/>
              </a:defRPr>
            </a:pPr>
            <a:r>
              <a:t>•  Cực biên 1 (r = 0): Đạt bậc phân tập tối đa d_max = 4  ⇒  Kỹ thuật STBC Alamouti (Tối đa tin cậy, chống fading sâu).</a:t>
            </a:r>
          </a:p>
          <a:p>
            <a:pPr>
              <a:spcAft>
                <a:spcPts val="600"/>
              </a:spcAft>
              <a:defRPr sz="1050">
                <a:solidFill>
                  <a:srgbClr val="1E293B"/>
                </a:solidFill>
                <a:latin typeface="Arial"/>
              </a:defRPr>
            </a:pPr>
            <a:r>
              <a:t>•  Cực biên 2 (d = 0): Đạt tốc độ ghép kênh tối đa r_max = 2  ⇒  Kỹ thuật SDM (Tối đa thông lượng, nhân đôi tốc độ).</a:t>
            </a:r>
          </a:p>
        </p:txBody>
      </p:sp>
      <p:sp>
        <p:nvSpPr>
          <p:cNvPr id="10" name="Rectangle 9"/>
          <p:cNvSpPr/>
          <p:nvPr/>
        </p:nvSpPr>
        <p:spPr>
          <a:xfrm>
            <a:off x="6248095" y="1371600"/>
            <a:ext cx="5212080" cy="320040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48095" y="1371600"/>
            <a:ext cx="52120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BẢNG SO SÁNH TỔNG HỢP STBC VS SDM</a:t>
            </a:r>
          </a:p>
        </p:txBody>
      </p:sp>
      <p:graphicFrame>
        <p:nvGraphicFramePr>
          <p:cNvPr id="12" name="Table 11"/>
          <p:cNvGraphicFramePr>
            <a:graphicFrameLocks noGrp="1"/>
          </p:cNvGraphicFramePr>
          <p:nvPr/>
        </p:nvGraphicFramePr>
        <p:xfrm>
          <a:off x="6355080" y="1874519"/>
          <a:ext cx="5029200" cy="2468880"/>
        </p:xfrm>
        <a:graphic>
          <a:graphicData uri="http://schemas.openxmlformats.org/drawingml/2006/table">
            <a:tbl>
              <a:tblPr firstRow="1" bandRow="1">
                <a:tableStyleId>{5C22544A-7EE6-4342-B048-85BDC9FD1C3A}</a:tableStyleId>
              </a:tblPr>
              <a:tblGrid>
                <a:gridCol w="1371600"/>
                <a:gridCol w="1828800"/>
                <a:gridCol w="1828800"/>
              </a:tblGrid>
              <a:tr h="411480">
                <a:tc>
                  <a:txBody>
                    <a:bodyPr/>
                    <a:lstStyle/>
                    <a:p>
                      <a:pPr algn="ctr">
                        <a:defRPr sz="1000" b="1">
                          <a:solidFill>
                            <a:srgbClr val="FFFFFF"/>
                          </a:solidFill>
                          <a:latin typeface="Arial"/>
                        </a:defRPr>
                      </a:pPr>
                      <a:r>
                        <a:t>Tiêu chí</a:t>
                      </a:r>
                    </a:p>
                  </a:txBody>
                  <a:tcPr anchor="ctr">
                    <a:solidFill>
                      <a:srgbClr val="002B49"/>
                    </a:solidFill>
                  </a:tcPr>
                </a:tc>
                <a:tc>
                  <a:txBody>
                    <a:bodyPr/>
                    <a:lstStyle/>
                    <a:p>
                      <a:pPr algn="ctr">
                        <a:defRPr sz="1000" b="1">
                          <a:solidFill>
                            <a:srgbClr val="FFFFFF"/>
                          </a:solidFill>
                          <a:latin typeface="Arial"/>
                        </a:defRPr>
                      </a:pPr>
                      <a:r>
                        <a:t>STBC Alamouti</a:t>
                      </a:r>
                    </a:p>
                  </a:txBody>
                  <a:tcPr anchor="ctr">
                    <a:solidFill>
                      <a:srgbClr val="002B49"/>
                    </a:solidFill>
                  </a:tcPr>
                </a:tc>
                <a:tc>
                  <a:txBody>
                    <a:bodyPr/>
                    <a:lstStyle/>
                    <a:p>
                      <a:pPr algn="ctr">
                        <a:defRPr sz="1000" b="1">
                          <a:solidFill>
                            <a:srgbClr val="FFFFFF"/>
                          </a:solidFill>
                          <a:latin typeface="Arial"/>
                        </a:defRPr>
                      </a:pPr>
                      <a:r>
                        <a:t>Ghép kênh SDM</a:t>
                      </a:r>
                    </a:p>
                  </a:txBody>
                  <a:tcPr anchor="ctr">
                    <a:solidFill>
                      <a:srgbClr val="002B49"/>
                    </a:solidFill>
                  </a:tcPr>
                </a:tc>
              </a:tr>
              <a:tr h="411480">
                <a:tc>
                  <a:txBody>
                    <a:bodyPr/>
                    <a:lstStyle/>
                    <a:p>
                      <a:pPr algn="ctr">
                        <a:defRPr sz="950">
                          <a:solidFill>
                            <a:srgbClr val="1E293B"/>
                          </a:solidFill>
                          <a:latin typeface="Arial"/>
                        </a:defRPr>
                      </a:pPr>
                      <a:r>
                        <a:t>Mục tiêu cốt lõi</a:t>
                      </a:r>
                    </a:p>
                  </a:txBody>
                  <a:tcPr anchor="ctr">
                    <a:solidFill>
                      <a:srgbClr val="F1F5F9"/>
                    </a:solidFill>
                  </a:tcPr>
                </a:tc>
                <a:tc>
                  <a:txBody>
                    <a:bodyPr/>
                    <a:lstStyle/>
                    <a:p>
                      <a:pPr algn="ctr">
                        <a:defRPr sz="950">
                          <a:solidFill>
                            <a:srgbClr val="1E293B"/>
                          </a:solidFill>
                          <a:latin typeface="Arial"/>
                        </a:defRPr>
                      </a:pPr>
                      <a:r>
                        <a:t>Tối đa độ tin cậy (chống lỗi)</a:t>
                      </a:r>
                    </a:p>
                  </a:txBody>
                  <a:tcPr anchor="ctr">
                    <a:solidFill>
                      <a:srgbClr val="F1F5F9"/>
                    </a:solidFill>
                  </a:tcPr>
                </a:tc>
                <a:tc>
                  <a:txBody>
                    <a:bodyPr/>
                    <a:lstStyle/>
                    <a:p>
                      <a:pPr algn="ctr">
                        <a:defRPr sz="950">
                          <a:solidFill>
                            <a:srgbClr val="1E293B"/>
                          </a:solidFill>
                          <a:latin typeface="Arial"/>
                        </a:defRPr>
                      </a:pPr>
                      <a:r>
                        <a:t>Tối đa tốc độ (thông lượng)</a:t>
                      </a:r>
                    </a:p>
                  </a:txBody>
                  <a:tcPr anchor="ctr">
                    <a:solidFill>
                      <a:srgbClr val="F1F5F9"/>
                    </a:solidFill>
                  </a:tcPr>
                </a:tc>
              </a:tr>
              <a:tr h="411480">
                <a:tc>
                  <a:txBody>
                    <a:bodyPr/>
                    <a:lstStyle/>
                    <a:p>
                      <a:pPr algn="ctr">
                        <a:defRPr sz="950">
                          <a:solidFill>
                            <a:srgbClr val="1E293B"/>
                          </a:solidFill>
                          <a:latin typeface="Arial"/>
                        </a:defRPr>
                      </a:pPr>
                      <a:r>
                        <a:t>Tốc độ mã hóa R</a:t>
                      </a:r>
                    </a:p>
                  </a:txBody>
                  <a:tcPr anchor="ctr">
                    <a:solidFill>
                      <a:srgbClr val="FFFFFF"/>
                    </a:solidFill>
                  </a:tcPr>
                </a:tc>
                <a:tc>
                  <a:txBody>
                    <a:bodyPr/>
                    <a:lstStyle/>
                    <a:p>
                      <a:pPr algn="ctr">
                        <a:defRPr sz="950">
                          <a:solidFill>
                            <a:srgbClr val="1E293B"/>
                          </a:solidFill>
                          <a:latin typeface="Arial"/>
                        </a:defRPr>
                      </a:pPr>
                      <a:r>
                        <a:t>R = 1 ký hiệu/khe (như SISO)</a:t>
                      </a:r>
                    </a:p>
                  </a:txBody>
                  <a:tcPr anchor="ctr">
                    <a:solidFill>
                      <a:srgbClr val="FFFFFF"/>
                    </a:solidFill>
                  </a:tcPr>
                </a:tc>
                <a:tc>
                  <a:txBody>
                    <a:bodyPr/>
                    <a:lstStyle/>
                    <a:p>
                      <a:pPr algn="ctr">
                        <a:defRPr sz="950">
                          <a:solidFill>
                            <a:srgbClr val="1E293B"/>
                          </a:solidFill>
                          <a:latin typeface="Arial"/>
                        </a:defRPr>
                      </a:pPr>
                      <a:r>
                        <a:t>R = 2 ký hiệu/khe (nhân đôi)</a:t>
                      </a:r>
                    </a:p>
                  </a:txBody>
                  <a:tcPr anchor="ctr">
                    <a:solidFill>
                      <a:srgbClr val="FFFFFF"/>
                    </a:solidFill>
                  </a:tcPr>
                </a:tc>
              </a:tr>
              <a:tr h="411480">
                <a:tc>
                  <a:txBody>
                    <a:bodyPr/>
                    <a:lstStyle/>
                    <a:p>
                      <a:pPr algn="ctr">
                        <a:defRPr sz="950">
                          <a:solidFill>
                            <a:srgbClr val="1E293B"/>
                          </a:solidFill>
                          <a:latin typeface="Arial"/>
                        </a:defRPr>
                      </a:pPr>
                      <a:r>
                        <a:t>Bậc phân tập d</a:t>
                      </a:r>
                    </a:p>
                  </a:txBody>
                  <a:tcPr anchor="ctr">
                    <a:solidFill>
                      <a:srgbClr val="F1F5F9"/>
                    </a:solidFill>
                  </a:tcPr>
                </a:tc>
                <a:tc>
                  <a:txBody>
                    <a:bodyPr/>
                    <a:lstStyle/>
                    <a:p>
                      <a:pPr algn="ctr">
                        <a:defRPr sz="950">
                          <a:solidFill>
                            <a:srgbClr val="1E293B"/>
                          </a:solidFill>
                          <a:latin typeface="Arial"/>
                        </a:defRPr>
                      </a:pPr>
                      <a:r>
                        <a:t>d = 4 (Cực đại)</a:t>
                      </a:r>
                    </a:p>
                  </a:txBody>
                  <a:tcPr anchor="ctr">
                    <a:solidFill>
                      <a:srgbClr val="F1F5F9"/>
                    </a:solidFill>
                  </a:tcPr>
                </a:tc>
                <a:tc>
                  <a:txBody>
                    <a:bodyPr/>
                    <a:lstStyle/>
                    <a:p>
                      <a:pPr algn="ctr">
                        <a:defRPr sz="950">
                          <a:solidFill>
                            <a:srgbClr val="1E293B"/>
                          </a:solidFill>
                          <a:latin typeface="Arial"/>
                        </a:defRPr>
                      </a:pPr>
                      <a:r>
                        <a:t>d = 0 (với tách sóng ZF)</a:t>
                      </a:r>
                    </a:p>
                  </a:txBody>
                  <a:tcPr anchor="ctr">
                    <a:solidFill>
                      <a:srgbClr val="F1F5F9"/>
                    </a:solidFill>
                  </a:tcPr>
                </a:tc>
              </a:tr>
              <a:tr h="411480">
                <a:tc>
                  <a:txBody>
                    <a:bodyPr/>
                    <a:lstStyle/>
                    <a:p>
                      <a:pPr algn="ctr">
                        <a:defRPr sz="950">
                          <a:solidFill>
                            <a:srgbClr val="1E293B"/>
                          </a:solidFill>
                          <a:latin typeface="Arial"/>
                        </a:defRPr>
                      </a:pPr>
                      <a:r>
                        <a:t>Phức tạp máy thu</a:t>
                      </a:r>
                    </a:p>
                  </a:txBody>
                  <a:tcPr anchor="ctr">
                    <a:solidFill>
                      <a:srgbClr val="FFFFFF"/>
                    </a:solidFill>
                  </a:tcPr>
                </a:tc>
                <a:tc>
                  <a:txBody>
                    <a:bodyPr/>
                    <a:lstStyle/>
                    <a:p>
                      <a:pPr algn="ctr">
                        <a:defRPr sz="950">
                          <a:solidFill>
                            <a:srgbClr val="1E293B"/>
                          </a:solidFill>
                          <a:latin typeface="Arial"/>
                        </a:defRPr>
                      </a:pPr>
                      <a:r>
                        <a:t>Rất thấp (kết hợp tuyến tính)</a:t>
                      </a:r>
                    </a:p>
                  </a:txBody>
                  <a:tcPr anchor="ctr">
                    <a:solidFill>
                      <a:srgbClr val="FFFFFF"/>
                    </a:solidFill>
                  </a:tcPr>
                </a:tc>
                <a:tc>
                  <a:txBody>
                    <a:bodyPr/>
                    <a:lstStyle/>
                    <a:p>
                      <a:pPr algn="ctr">
                        <a:defRPr sz="950">
                          <a:solidFill>
                            <a:srgbClr val="1E293B"/>
                          </a:solidFill>
                          <a:latin typeface="Arial"/>
                        </a:defRPr>
                      </a:pPr>
                      <a:r>
                        <a:t>Trung bình / cao (đảo ma trận)</a:t>
                      </a:r>
                    </a:p>
                  </a:txBody>
                  <a:tcPr anchor="ctr">
                    <a:solidFill>
                      <a:srgbClr val="FFFFFF"/>
                    </a:solidFill>
                  </a:tcPr>
                </a:tc>
              </a:tr>
              <a:tr h="411480">
                <a:tc>
                  <a:txBody>
                    <a:bodyPr/>
                    <a:lstStyle/>
                    <a:p>
                      <a:pPr algn="ctr">
                        <a:defRPr sz="950">
                          <a:solidFill>
                            <a:srgbClr val="1E293B"/>
                          </a:solidFill>
                          <a:latin typeface="Arial"/>
                        </a:defRPr>
                      </a:pPr>
                      <a:r>
                        <a:t>Yêu cầu CSI</a:t>
                      </a:r>
                    </a:p>
                  </a:txBody>
                  <a:tcPr anchor="ctr">
                    <a:solidFill>
                      <a:srgbClr val="F1F5F9"/>
                    </a:solidFill>
                  </a:tcPr>
                </a:tc>
                <a:tc>
                  <a:txBody>
                    <a:bodyPr/>
                    <a:lstStyle/>
                    <a:p>
                      <a:pPr algn="ctr">
                        <a:defRPr sz="950">
                          <a:solidFill>
                            <a:srgbClr val="1E293B"/>
                          </a:solidFill>
                          <a:latin typeface="Arial"/>
                        </a:defRPr>
                      </a:pPr>
                      <a:r>
                        <a:t>Chỉ cần CSIR tại bộ thu</a:t>
                      </a:r>
                    </a:p>
                  </a:txBody>
                  <a:tcPr anchor="ctr">
                    <a:solidFill>
                      <a:srgbClr val="F1F5F9"/>
                    </a:solidFill>
                  </a:tcPr>
                </a:tc>
                <a:tc>
                  <a:txBody>
                    <a:bodyPr/>
                    <a:lstStyle/>
                    <a:p>
                      <a:pPr algn="ctr">
                        <a:defRPr sz="950">
                          <a:solidFill>
                            <a:srgbClr val="1E293B"/>
                          </a:solidFill>
                          <a:latin typeface="Arial"/>
                        </a:defRPr>
                      </a:pPr>
                      <a:r>
                        <a:t>Cần CSIR (ZF/MMSE), CSIT (SVD)</a:t>
                      </a:r>
                    </a:p>
                  </a:txBody>
                  <a:tcPr anchor="ctr">
                    <a:solidFill>
                      <a:srgbClr val="F1F5F9"/>
                    </a:solidFill>
                  </a:tcPr>
                </a:tc>
              </a:tr>
            </a:tbl>
          </a:graphicData>
        </a:graphic>
      </p:graphicFrame>
      <p:sp>
        <p:nvSpPr>
          <p:cNvPr id="13" name="Rectangle 12"/>
          <p:cNvSpPr/>
          <p:nvPr/>
        </p:nvSpPr>
        <p:spPr>
          <a:xfrm>
            <a:off x="731520" y="4709160"/>
            <a:ext cx="10728655" cy="1554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731520" y="4709160"/>
            <a:ext cx="10728655"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CHIẾN LƯỢC THÍCH NGHI LIÊN KẾT TRONG 5G / 6G (ADAPTIVE LINK ADAPTATION)</a:t>
            </a:r>
          </a:p>
        </p:txBody>
      </p:sp>
      <p:sp>
        <p:nvSpPr>
          <p:cNvPr id="15" name="TextBox 14"/>
          <p:cNvSpPr txBox="1"/>
          <p:nvPr/>
        </p:nvSpPr>
        <p:spPr>
          <a:xfrm>
            <a:off x="822960" y="5120640"/>
            <a:ext cx="10545775" cy="1051560"/>
          </a:xfrm>
          <a:prstGeom prst="rect">
            <a:avLst/>
          </a:prstGeom>
          <a:noFill/>
        </p:spPr>
        <p:txBody>
          <a:bodyPr wrap="square">
            <a:spAutoFit/>
          </a:bodyPr>
          <a:lstStyle/>
          <a:p>
            <a:pPr>
              <a:spcAft>
                <a:spcPts val="400"/>
              </a:spcAft>
              <a:defRPr sz="1050">
                <a:solidFill>
                  <a:srgbClr val="1E293B"/>
                </a:solidFill>
                <a:latin typeface="Arial"/>
              </a:defRPr>
            </a:pPr>
            <a:r>
              <a:t>•  Vùng biên tế bào (Cell Edge) / SNR thấp: Chuyển sang chế độ STBC Alamouti để tận dụng độ lợi phân tập d=4 và độ lợi mảng, đảm bảo cuộc gọi và dữ liệu không bị ngắt quãng.</a:t>
            </a:r>
          </a:p>
          <a:p>
            <a:pPr>
              <a:spcAft>
                <a:spcPts val="400"/>
              </a:spcAft>
              <a:defRPr sz="1050">
                <a:solidFill>
                  <a:srgbClr val="1E293B"/>
                </a:solidFill>
                <a:latin typeface="Arial"/>
              </a:defRPr>
            </a:pPr>
            <a:r>
              <a:t>•  Vùng tâm tế bào (Cell Center) / SNR cao: Chuyển sang chế độ SDM để mở rộng thông lượng phục vụ truyền dữ liệu băng rộng tốc độ Gigabit.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TỔNG HỢP KẾT QUẢ</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Bảng Tổng hợp Đối chiếu Kết quả Lý thuyết vs Mô phỏng Thực tế</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19 / 21</a:t>
            </a:r>
          </a:p>
        </p:txBody>
      </p:sp>
      <p:sp>
        <p:nvSpPr>
          <p:cNvPr id="7" name="Rectangle 6"/>
          <p:cNvSpPr/>
          <p:nvPr/>
        </p:nvSpPr>
        <p:spPr>
          <a:xfrm>
            <a:off x="731520" y="1371600"/>
            <a:ext cx="61264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61264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BẢNG ĐỐI CHIẾU TOÀN DIỆN CÁC CHỈ SỐ KỸ THUẬT</a:t>
            </a:r>
          </a:p>
        </p:txBody>
      </p:sp>
      <p:graphicFrame>
        <p:nvGraphicFramePr>
          <p:cNvPr id="9" name="Table 8"/>
          <p:cNvGraphicFramePr>
            <a:graphicFrameLocks noGrp="1"/>
          </p:cNvGraphicFramePr>
          <p:nvPr/>
        </p:nvGraphicFramePr>
        <p:xfrm>
          <a:off x="868680" y="1874519"/>
          <a:ext cx="5852160" cy="4114800"/>
        </p:xfrm>
        <a:graphic>
          <a:graphicData uri="http://schemas.openxmlformats.org/drawingml/2006/table">
            <a:tbl>
              <a:tblPr firstRow="1" bandRow="1">
                <a:tableStyleId>{5C22544A-7EE6-4342-B048-85BDC9FD1C3A}</a:tableStyleId>
              </a:tblPr>
              <a:tblGrid>
                <a:gridCol w="1920240"/>
                <a:gridCol w="1280160"/>
                <a:gridCol w="1280160"/>
                <a:gridCol w="1371600"/>
              </a:tblGrid>
              <a:tr h="514350">
                <a:tc>
                  <a:txBody>
                    <a:bodyPr/>
                    <a:lstStyle/>
                    <a:p>
                      <a:pPr algn="ctr">
                        <a:defRPr sz="1000" b="1">
                          <a:solidFill>
                            <a:srgbClr val="FFFFFF"/>
                          </a:solidFill>
                          <a:latin typeface="Arial"/>
                        </a:defRPr>
                      </a:pPr>
                      <a:r>
                        <a:t>Hạng mục khảo sát</a:t>
                      </a:r>
                    </a:p>
                  </a:txBody>
                  <a:tcPr anchor="ctr">
                    <a:solidFill>
                      <a:srgbClr val="002B49"/>
                    </a:solidFill>
                  </a:tcPr>
                </a:tc>
                <a:tc>
                  <a:txBody>
                    <a:bodyPr/>
                    <a:lstStyle/>
                    <a:p>
                      <a:pPr algn="ctr">
                        <a:defRPr sz="1000" b="1">
                          <a:solidFill>
                            <a:srgbClr val="FFFFFF"/>
                          </a:solidFill>
                          <a:latin typeface="Arial"/>
                        </a:defRPr>
                      </a:pPr>
                      <a:r>
                        <a:t>Lý thuyết giải tích</a:t>
                      </a:r>
                    </a:p>
                  </a:txBody>
                  <a:tcPr anchor="ctr">
                    <a:solidFill>
                      <a:srgbClr val="002B49"/>
                    </a:solidFill>
                  </a:tcPr>
                </a:tc>
                <a:tc>
                  <a:txBody>
                    <a:bodyPr/>
                    <a:lstStyle/>
                    <a:p>
                      <a:pPr algn="ctr">
                        <a:defRPr sz="1000" b="1">
                          <a:solidFill>
                            <a:srgbClr val="FFFFFF"/>
                          </a:solidFill>
                          <a:latin typeface="Arial"/>
                        </a:defRPr>
                      </a:pPr>
                      <a:r>
                        <a:t>Thực tế mô phỏng</a:t>
                      </a:r>
                    </a:p>
                  </a:txBody>
                  <a:tcPr anchor="ctr">
                    <a:solidFill>
                      <a:srgbClr val="002B49"/>
                    </a:solidFill>
                  </a:tcPr>
                </a:tc>
                <a:tc>
                  <a:txBody>
                    <a:bodyPr/>
                    <a:lstStyle/>
                    <a:p>
                      <a:pPr algn="ctr">
                        <a:defRPr sz="1000" b="1">
                          <a:solidFill>
                            <a:srgbClr val="FFFFFF"/>
                          </a:solidFill>
                          <a:latin typeface="Arial"/>
                        </a:defRPr>
                      </a:pPr>
                      <a:r>
                        <a:t>Đánh giá</a:t>
                      </a:r>
                    </a:p>
                  </a:txBody>
                  <a:tcPr anchor="ctr">
                    <a:solidFill>
                      <a:srgbClr val="002B49"/>
                    </a:solidFill>
                  </a:tcPr>
                </a:tc>
              </a:tr>
              <a:tr h="514350">
                <a:tc>
                  <a:txBody>
                    <a:bodyPr/>
                    <a:lstStyle/>
                    <a:p>
                      <a:pPr algn="ctr">
                        <a:defRPr sz="950">
                          <a:solidFill>
                            <a:srgbClr val="1E293B"/>
                          </a:solidFill>
                          <a:latin typeface="Arial"/>
                        </a:defRPr>
                      </a:pPr>
                      <a:r>
                        <a:t>Sai số khôi phục STBC</a:t>
                      </a:r>
                    </a:p>
                  </a:txBody>
                  <a:tcPr anchor="ctr">
                    <a:solidFill>
                      <a:srgbClr val="F1F5F9"/>
                    </a:solidFill>
                  </a:tcPr>
                </a:tc>
                <a:tc>
                  <a:txBody>
                    <a:bodyPr/>
                    <a:lstStyle/>
                    <a:p>
                      <a:pPr algn="ctr">
                        <a:defRPr sz="950">
                          <a:solidFill>
                            <a:srgbClr val="1E293B"/>
                          </a:solidFill>
                          <a:latin typeface="Arial"/>
                        </a:defRPr>
                      </a:pPr>
                      <a:r>
                        <a:t>0.0 (Tuyệt đối)</a:t>
                      </a:r>
                    </a:p>
                  </a:txBody>
                  <a:tcPr anchor="ctr">
                    <a:solidFill>
                      <a:srgbClr val="F1F5F9"/>
                    </a:solidFill>
                  </a:tcPr>
                </a:tc>
                <a:tc>
                  <a:txBody>
                    <a:bodyPr/>
                    <a:lstStyle/>
                    <a:p>
                      <a:pPr algn="ctr">
                        <a:defRPr sz="950">
                          <a:solidFill>
                            <a:srgbClr val="1E293B"/>
                          </a:solidFill>
                          <a:latin typeface="Arial"/>
                        </a:defRPr>
                      </a:pPr>
                      <a:r>
                        <a:t>1.11 x 10^-16</a:t>
                      </a:r>
                    </a:p>
                  </a:txBody>
                  <a:tcPr anchor="ctr">
                    <a:solidFill>
                      <a:srgbClr val="F1F5F9"/>
                    </a:solidFill>
                  </a:tcPr>
                </a:tc>
                <a:tc>
                  <a:txBody>
                    <a:bodyPr/>
                    <a:lstStyle/>
                    <a:p>
                      <a:pPr algn="ctr">
                        <a:defRPr sz="950">
                          <a:solidFill>
                            <a:srgbClr val="1E293B"/>
                          </a:solidFill>
                          <a:latin typeface="Arial"/>
                        </a:defRPr>
                      </a:pPr>
                      <a:r>
                        <a:t>Khôi phục hoàn hảo</a:t>
                      </a:r>
                    </a:p>
                  </a:txBody>
                  <a:tcPr anchor="ctr">
                    <a:solidFill>
                      <a:srgbClr val="F1F5F9"/>
                    </a:solidFill>
                  </a:tcPr>
                </a:tc>
              </a:tr>
              <a:tr h="514350">
                <a:tc>
                  <a:txBody>
                    <a:bodyPr/>
                    <a:lstStyle/>
                    <a:p>
                      <a:pPr algn="ctr">
                        <a:defRPr sz="950">
                          <a:solidFill>
                            <a:srgbClr val="1E293B"/>
                          </a:solidFill>
                          <a:latin typeface="Arial"/>
                        </a:defRPr>
                      </a:pPr>
                      <a:r>
                        <a:t>Sai số khôi phục SDM ZF</a:t>
                      </a:r>
                    </a:p>
                  </a:txBody>
                  <a:tcPr anchor="ctr">
                    <a:solidFill>
                      <a:srgbClr val="FFFFFF"/>
                    </a:solidFill>
                  </a:tcPr>
                </a:tc>
                <a:tc>
                  <a:txBody>
                    <a:bodyPr/>
                    <a:lstStyle/>
                    <a:p>
                      <a:pPr algn="ctr">
                        <a:defRPr sz="950">
                          <a:solidFill>
                            <a:srgbClr val="1E293B"/>
                          </a:solidFill>
                          <a:latin typeface="Arial"/>
                        </a:defRPr>
                      </a:pPr>
                      <a:r>
                        <a:t>0.0 (Tuyệt đối)</a:t>
                      </a:r>
                    </a:p>
                  </a:txBody>
                  <a:tcPr anchor="ctr">
                    <a:solidFill>
                      <a:srgbClr val="FFFFFF"/>
                    </a:solidFill>
                  </a:tcPr>
                </a:tc>
                <a:tc>
                  <a:txBody>
                    <a:bodyPr/>
                    <a:lstStyle/>
                    <a:p>
                      <a:pPr algn="ctr">
                        <a:defRPr sz="950">
                          <a:solidFill>
                            <a:srgbClr val="1E293B"/>
                          </a:solidFill>
                          <a:latin typeface="Arial"/>
                        </a:defRPr>
                      </a:pPr>
                      <a:r>
                        <a:t>1.05 x 10^-15</a:t>
                      </a:r>
                    </a:p>
                  </a:txBody>
                  <a:tcPr anchor="ctr">
                    <a:solidFill>
                      <a:srgbClr val="FFFFFF"/>
                    </a:solidFill>
                  </a:tcPr>
                </a:tc>
                <a:tc>
                  <a:txBody>
                    <a:bodyPr/>
                    <a:lstStyle/>
                    <a:p>
                      <a:pPr algn="ctr">
                        <a:defRPr sz="950">
                          <a:solidFill>
                            <a:srgbClr val="1E293B"/>
                          </a:solidFill>
                          <a:latin typeface="Arial"/>
                        </a:defRPr>
                      </a:pPr>
                      <a:r>
                        <a:t>Khôi phục hoàn hảo</a:t>
                      </a:r>
                    </a:p>
                  </a:txBody>
                  <a:tcPr anchor="ctr">
                    <a:solidFill>
                      <a:srgbClr val="FFFFFF"/>
                    </a:solidFill>
                  </a:tcPr>
                </a:tc>
              </a:tr>
              <a:tr h="514350">
                <a:tc>
                  <a:txBody>
                    <a:bodyPr/>
                    <a:lstStyle/>
                    <a:p>
                      <a:pPr algn="ctr">
                        <a:defRPr sz="950">
                          <a:solidFill>
                            <a:srgbClr val="1E293B"/>
                          </a:solidFill>
                          <a:latin typeface="Arial"/>
                        </a:defRPr>
                      </a:pPr>
                      <a:r>
                        <a:t>Khuếch đại nhiễu ZF</a:t>
                      </a:r>
                    </a:p>
                  </a:txBody>
                  <a:tcPr anchor="ctr">
                    <a:solidFill>
                      <a:srgbClr val="F1F5F9"/>
                    </a:solidFill>
                  </a:tcPr>
                </a:tc>
                <a:tc>
                  <a:txBody>
                    <a:bodyPr/>
                    <a:lstStyle/>
                    <a:p>
                      <a:pPr algn="ctr">
                        <a:defRPr sz="950">
                          <a:solidFill>
                            <a:srgbClr val="1E293B"/>
                          </a:solidFill>
                          <a:latin typeface="Arial"/>
                        </a:defRPr>
                      </a:pPr>
                      <a:r>
                        <a:t>5.0x và 7.22x</a:t>
                      </a:r>
                    </a:p>
                  </a:txBody>
                  <a:tcPr anchor="ctr">
                    <a:solidFill>
                      <a:srgbClr val="F1F5F9"/>
                    </a:solidFill>
                  </a:tcPr>
                </a:tc>
                <a:tc>
                  <a:txBody>
                    <a:bodyPr/>
                    <a:lstStyle/>
                    <a:p>
                      <a:pPr algn="ctr">
                        <a:defRPr sz="950">
                          <a:solidFill>
                            <a:srgbClr val="1E293B"/>
                          </a:solidFill>
                          <a:latin typeface="Arial"/>
                        </a:defRPr>
                      </a:pPr>
                      <a:r>
                        <a:t>5.000x và 7.222x</a:t>
                      </a:r>
                    </a:p>
                  </a:txBody>
                  <a:tcPr anchor="ctr">
                    <a:solidFill>
                      <a:srgbClr val="F1F5F9"/>
                    </a:solidFill>
                  </a:tcPr>
                </a:tc>
                <a:tc>
                  <a:txBody>
                    <a:bodyPr/>
                    <a:lstStyle/>
                    <a:p>
                      <a:pPr algn="ctr">
                        <a:defRPr sz="950">
                          <a:solidFill>
                            <a:srgbClr val="1E293B"/>
                          </a:solidFill>
                          <a:latin typeface="Arial"/>
                        </a:defRPr>
                      </a:pPr>
                      <a:r>
                        <a:t>Trùng khớp 100%</a:t>
                      </a:r>
                    </a:p>
                  </a:txBody>
                  <a:tcPr anchor="ctr">
                    <a:solidFill>
                      <a:srgbClr val="F1F5F9"/>
                    </a:solidFill>
                  </a:tcPr>
                </a:tc>
              </a:tr>
              <a:tr h="514350">
                <a:tc>
                  <a:txBody>
                    <a:bodyPr/>
                    <a:lstStyle/>
                    <a:p>
                      <a:pPr algn="ctr">
                        <a:defRPr sz="950">
                          <a:solidFill>
                            <a:srgbClr val="1E293B"/>
                          </a:solidFill>
                          <a:latin typeface="Arial"/>
                        </a:defRPr>
                      </a:pPr>
                      <a:r>
                        <a:t>Bậc phân tập MIMO 2x2</a:t>
                      </a:r>
                    </a:p>
                  </a:txBody>
                  <a:tcPr anchor="ctr">
                    <a:solidFill>
                      <a:srgbClr val="FFFFFF"/>
                    </a:solidFill>
                  </a:tcPr>
                </a:tc>
                <a:tc>
                  <a:txBody>
                    <a:bodyPr/>
                    <a:lstStyle/>
                    <a:p>
                      <a:pPr algn="ctr">
                        <a:defRPr sz="950">
                          <a:solidFill>
                            <a:srgbClr val="1E293B"/>
                          </a:solidFill>
                          <a:latin typeface="Arial"/>
                        </a:defRPr>
                      </a:pPr>
                      <a:r>
                        <a:t>d = 4</a:t>
                      </a:r>
                    </a:p>
                  </a:txBody>
                  <a:tcPr anchor="ctr">
                    <a:solidFill>
                      <a:srgbClr val="FFFFFF"/>
                    </a:solidFill>
                  </a:tcPr>
                </a:tc>
                <a:tc>
                  <a:txBody>
                    <a:bodyPr/>
                    <a:lstStyle/>
                    <a:p>
                      <a:pPr algn="ctr">
                        <a:defRPr sz="950">
                          <a:solidFill>
                            <a:srgbClr val="1E293B"/>
                          </a:solidFill>
                          <a:latin typeface="Arial"/>
                        </a:defRPr>
                      </a:pPr>
                      <a:r>
                        <a:t>d = 4 (khớp độ dốc)</a:t>
                      </a:r>
                    </a:p>
                  </a:txBody>
                  <a:tcPr anchor="ctr">
                    <a:solidFill>
                      <a:srgbClr val="FFFFFF"/>
                    </a:solidFill>
                  </a:tcPr>
                </a:tc>
                <a:tc>
                  <a:txBody>
                    <a:bodyPr/>
                    <a:lstStyle/>
                    <a:p>
                      <a:pPr algn="ctr">
                        <a:defRPr sz="950">
                          <a:solidFill>
                            <a:srgbClr val="1E293B"/>
                          </a:solidFill>
                          <a:latin typeface="Arial"/>
                        </a:defRPr>
                      </a:pPr>
                      <a:r>
                        <a:t>Độ dốc gấp 4 lần SISO</a:t>
                      </a:r>
                    </a:p>
                  </a:txBody>
                  <a:tcPr anchor="ctr">
                    <a:solidFill>
                      <a:srgbClr val="FFFFFF"/>
                    </a:solidFill>
                  </a:tcPr>
                </a:tc>
              </a:tr>
              <a:tr h="514350">
                <a:tc>
                  <a:txBody>
                    <a:bodyPr/>
                    <a:lstStyle/>
                    <a:p>
                      <a:pPr algn="ctr">
                        <a:defRPr sz="950">
                          <a:solidFill>
                            <a:srgbClr val="1E293B"/>
                          </a:solidFill>
                          <a:latin typeface="Arial"/>
                        </a:defRPr>
                      </a:pPr>
                      <a:r>
                        <a:t>Độ lợi SNR tại BER 10^-3</a:t>
                      </a:r>
                    </a:p>
                  </a:txBody>
                  <a:tcPr anchor="ctr">
                    <a:solidFill>
                      <a:srgbClr val="F1F5F9"/>
                    </a:solidFill>
                  </a:tcPr>
                </a:tc>
                <a:tc>
                  <a:txBody>
                    <a:bodyPr/>
                    <a:lstStyle/>
                    <a:p>
                      <a:pPr algn="ctr">
                        <a:defRPr sz="950">
                          <a:solidFill>
                            <a:srgbClr val="1E293B"/>
                          </a:solidFill>
                          <a:latin typeface="Arial"/>
                        </a:defRPr>
                      </a:pPr>
                      <a:r>
                        <a:t>+16.5 dB</a:t>
                      </a:r>
                    </a:p>
                  </a:txBody>
                  <a:tcPr anchor="ctr">
                    <a:solidFill>
                      <a:srgbClr val="F1F5F9"/>
                    </a:solidFill>
                  </a:tcPr>
                </a:tc>
                <a:tc>
                  <a:txBody>
                    <a:bodyPr/>
                    <a:lstStyle/>
                    <a:p>
                      <a:pPr algn="ctr">
                        <a:defRPr sz="950">
                          <a:solidFill>
                            <a:srgbClr val="1E293B"/>
                          </a:solidFill>
                          <a:latin typeface="Arial"/>
                        </a:defRPr>
                      </a:pPr>
                      <a:r>
                        <a:t>+16.5 dB</a:t>
                      </a:r>
                    </a:p>
                  </a:txBody>
                  <a:tcPr anchor="ctr">
                    <a:solidFill>
                      <a:srgbClr val="F1F5F9"/>
                    </a:solidFill>
                  </a:tcPr>
                </a:tc>
                <a:tc>
                  <a:txBody>
                    <a:bodyPr/>
                    <a:lstStyle/>
                    <a:p>
                      <a:pPr algn="ctr">
                        <a:defRPr sz="950">
                          <a:solidFill>
                            <a:srgbClr val="1E293B"/>
                          </a:solidFill>
                          <a:latin typeface="Arial"/>
                        </a:defRPr>
                      </a:pPr>
                      <a:r>
                        <a:t>Tiết kiệm 45x công suất</a:t>
                      </a:r>
                    </a:p>
                  </a:txBody>
                  <a:tcPr anchor="ctr">
                    <a:solidFill>
                      <a:srgbClr val="F1F5F9"/>
                    </a:solidFill>
                  </a:tcPr>
                </a:tc>
              </a:tr>
              <a:tr h="514350">
                <a:tc>
                  <a:txBody>
                    <a:bodyPr/>
                    <a:lstStyle/>
                    <a:p>
                      <a:pPr algn="ctr">
                        <a:defRPr sz="950">
                          <a:solidFill>
                            <a:srgbClr val="1E293B"/>
                          </a:solidFill>
                          <a:latin typeface="Arial"/>
                        </a:defRPr>
                      </a:pPr>
                      <a:r>
                        <a:t>Ngưỡng chuyển đổi WF</a:t>
                      </a:r>
                    </a:p>
                  </a:txBody>
                  <a:tcPr anchor="ctr">
                    <a:solidFill>
                      <a:srgbClr val="FFFFFF"/>
                    </a:solidFill>
                  </a:tcPr>
                </a:tc>
                <a:tc>
                  <a:txBody>
                    <a:bodyPr/>
                    <a:lstStyle/>
                    <a:p>
                      <a:pPr algn="ctr">
                        <a:defRPr sz="950">
                          <a:solidFill>
                            <a:srgbClr val="1E293B"/>
                          </a:solidFill>
                          <a:latin typeface="Arial"/>
                        </a:defRPr>
                      </a:pPr>
                      <a:r>
                        <a:t>10.15 dB</a:t>
                      </a:r>
                    </a:p>
                  </a:txBody>
                  <a:tcPr anchor="ctr">
                    <a:solidFill>
                      <a:srgbClr val="FFFFFF"/>
                    </a:solidFill>
                  </a:tcPr>
                </a:tc>
                <a:tc>
                  <a:txBody>
                    <a:bodyPr/>
                    <a:lstStyle/>
                    <a:p>
                      <a:pPr algn="ctr">
                        <a:defRPr sz="950">
                          <a:solidFill>
                            <a:srgbClr val="1E293B"/>
                          </a:solidFill>
                          <a:latin typeface="Arial"/>
                        </a:defRPr>
                      </a:pPr>
                      <a:r>
                        <a:t>10.15 dB</a:t>
                      </a:r>
                    </a:p>
                  </a:txBody>
                  <a:tcPr anchor="ctr">
                    <a:solidFill>
                      <a:srgbClr val="FFFFFF"/>
                    </a:solidFill>
                  </a:tcPr>
                </a:tc>
                <a:tc>
                  <a:txBody>
                    <a:bodyPr/>
                    <a:lstStyle/>
                    <a:p>
                      <a:pPr algn="ctr">
                        <a:defRPr sz="950">
                          <a:solidFill>
                            <a:srgbClr val="1E293B"/>
                          </a:solidFill>
                          <a:latin typeface="Arial"/>
                        </a:defRPr>
                      </a:pPr>
                      <a:r>
                        <a:t>Chuyển tiếp chính xác</a:t>
                      </a:r>
                    </a:p>
                  </a:txBody>
                  <a:tcPr anchor="ctr">
                    <a:solidFill>
                      <a:srgbClr val="FFFFFF"/>
                    </a:solidFill>
                  </a:tcPr>
                </a:tc>
              </a:tr>
              <a:tr h="514350">
                <a:tc>
                  <a:txBody>
                    <a:bodyPr/>
                    <a:lstStyle/>
                    <a:p>
                      <a:pPr algn="ctr">
                        <a:defRPr sz="950">
                          <a:solidFill>
                            <a:srgbClr val="1E293B"/>
                          </a:solidFill>
                          <a:latin typeface="Arial"/>
                        </a:defRPr>
                      </a:pPr>
                      <a:r>
                        <a:t>Độ dốc dung lượng SDM</a:t>
                      </a:r>
                    </a:p>
                  </a:txBody>
                  <a:tcPr anchor="ctr">
                    <a:solidFill>
                      <a:srgbClr val="F1F5F9"/>
                    </a:solidFill>
                  </a:tcPr>
                </a:tc>
                <a:tc>
                  <a:txBody>
                    <a:bodyPr/>
                    <a:lstStyle/>
                    <a:p>
                      <a:pPr algn="ctr">
                        <a:defRPr sz="950">
                          <a:solidFill>
                            <a:srgbClr val="1E293B"/>
                          </a:solidFill>
                          <a:latin typeface="Arial"/>
                        </a:defRPr>
                      </a:pPr>
                      <a:r>
                        <a:t>2 bps/Hz / 3dB</a:t>
                      </a:r>
                    </a:p>
                  </a:txBody>
                  <a:tcPr anchor="ctr">
                    <a:solidFill>
                      <a:srgbClr val="F1F5F9"/>
                    </a:solidFill>
                  </a:tcPr>
                </a:tc>
                <a:tc>
                  <a:txBody>
                    <a:bodyPr/>
                    <a:lstStyle/>
                    <a:p>
                      <a:pPr algn="ctr">
                        <a:defRPr sz="950">
                          <a:solidFill>
                            <a:srgbClr val="1E293B"/>
                          </a:solidFill>
                          <a:latin typeface="Arial"/>
                        </a:defRPr>
                      </a:pPr>
                      <a:r>
                        <a:t>2.0 bps/Hz / 3dB</a:t>
                      </a:r>
                    </a:p>
                  </a:txBody>
                  <a:tcPr anchor="ctr">
                    <a:solidFill>
                      <a:srgbClr val="F1F5F9"/>
                    </a:solidFill>
                  </a:tcPr>
                </a:tc>
                <a:tc>
                  <a:txBody>
                    <a:bodyPr/>
                    <a:lstStyle/>
                    <a:p>
                      <a:pPr algn="ctr">
                        <a:defRPr sz="950">
                          <a:solidFill>
                            <a:srgbClr val="1E293B"/>
                          </a:solidFill>
                          <a:latin typeface="Arial"/>
                        </a:defRPr>
                      </a:pPr>
                      <a:r>
                        <a:t>Nhân đôi hiệu suất phổ</a:t>
                      </a:r>
                    </a:p>
                  </a:txBody>
                  <a:tcPr anchor="ctr">
                    <a:solidFill>
                      <a:srgbClr val="F1F5F9"/>
                    </a:solidFill>
                  </a:tcPr>
                </a:tc>
              </a:tr>
            </a:tbl>
          </a:graphicData>
        </a:graphic>
      </p:graphicFrame>
      <p:sp>
        <p:nvSpPr>
          <p:cNvPr id="10" name="Rectangle 9"/>
          <p:cNvSpPr/>
          <p:nvPr/>
        </p:nvSpPr>
        <p:spPr>
          <a:xfrm>
            <a:off x="7132320" y="1371600"/>
            <a:ext cx="4327855"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132320" y="1371600"/>
            <a:ext cx="4327855"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ẢNH CHỤP TỔNG HỢP TERMINAL</a:t>
            </a:r>
          </a:p>
        </p:txBody>
      </p:sp>
      <p:pic>
        <p:nvPicPr>
          <p:cNvPr id="12" name="Picture 11" descr="term_capture_simulation_summary.png"/>
          <p:cNvPicPr>
            <a:picLocks noChangeAspect="1"/>
          </p:cNvPicPr>
          <p:nvPr/>
        </p:nvPicPr>
        <p:blipFill>
          <a:blip r:embed="rId2"/>
          <a:stretch>
            <a:fillRect/>
          </a:stretch>
        </p:blipFill>
        <p:spPr>
          <a:xfrm>
            <a:off x="7589520" y="1920240"/>
            <a:ext cx="3474720" cy="3637338"/>
          </a:xfrm>
          <a:prstGeom prst="rect">
            <a:avLst/>
          </a:prstGeom>
        </p:spPr>
      </p:pic>
      <p:sp>
        <p:nvSpPr>
          <p:cNvPr id="13" name="TextBox 12"/>
          <p:cNvSpPr txBox="1"/>
          <p:nvPr/>
        </p:nvSpPr>
        <p:spPr>
          <a:xfrm>
            <a:off x="7223760" y="5532120"/>
            <a:ext cx="4114800" cy="594360"/>
          </a:xfrm>
          <a:prstGeom prst="rect">
            <a:avLst/>
          </a:prstGeom>
          <a:noFill/>
        </p:spPr>
        <p:txBody>
          <a:bodyPr wrap="square">
            <a:spAutoFit/>
          </a:bodyPr>
          <a:lstStyle/>
          <a:p>
            <a:pPr algn="ctr">
              <a:defRPr sz="950">
                <a:solidFill>
                  <a:srgbClr val="64748B"/>
                </a:solidFill>
                <a:latin typeface="Arial"/>
              </a:defRPr>
            </a:pPr>
            <a:r>
              <a:t>Hình 4.3: Bảng tổng hợp đối chiếu kết quả mô phỏng toàn diện xuất ra từ terminal Python.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9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731520" y="365760"/>
            <a:ext cx="3291840" cy="2743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latin typeface="Arial"/>
              </a:defRPr>
            </a:pPr>
            <a:r>
              <a:t>KẾT LUẬN ĐỒ ÁN</a:t>
            </a:r>
          </a:p>
        </p:txBody>
      </p:sp>
      <p:sp>
        <p:nvSpPr>
          <p:cNvPr id="4" name="TextBox 3"/>
          <p:cNvSpPr txBox="1"/>
          <p:nvPr/>
        </p:nvSpPr>
        <p:spPr>
          <a:xfrm>
            <a:off x="731520" y="658368"/>
            <a:ext cx="10728655" cy="502920"/>
          </a:xfrm>
          <a:prstGeom prst="rect">
            <a:avLst/>
          </a:prstGeom>
          <a:noFill/>
        </p:spPr>
        <p:txBody>
          <a:bodyPr wrap="square">
            <a:spAutoFit/>
          </a:bodyPr>
          <a:lstStyle/>
          <a:p>
            <a:pPr>
              <a:defRPr sz="2000" b="1">
                <a:solidFill>
                  <a:srgbClr val="002B49"/>
                </a:solidFill>
                <a:latin typeface="Arial"/>
              </a:defRPr>
            </a:pPr>
            <a:r>
              <a:t>Kết luận Khoa học &amp; Đánh giá Mức độ Hoàn thành Mục tiêu</a:t>
            </a:r>
          </a:p>
        </p:txBody>
      </p:sp>
      <p:sp>
        <p:nvSpPr>
          <p:cNvPr id="5" name="Rectangle 4"/>
          <p:cNvSpPr/>
          <p:nvPr/>
        </p:nvSpPr>
        <p:spPr>
          <a:xfrm>
            <a:off x="731520" y="1188720"/>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446520"/>
            <a:ext cx="10728655" cy="274320"/>
          </a:xfrm>
          <a:prstGeom prst="rect">
            <a:avLst/>
          </a:prstGeom>
          <a:noFill/>
        </p:spPr>
        <p:txBody>
          <a:bodyPr wrap="none">
            <a:spAutoFit/>
          </a:bodyPr>
          <a:lstStyle/>
          <a:p>
            <a:pPr>
              <a:defRPr sz="900">
                <a:solidFill>
                  <a:srgbClr val="64748B"/>
                </a:solidFill>
                <a:latin typeface="Arial"/>
              </a:defRPr>
            </a:pPr>
            <a:r>
              <a:t>Trường ĐH Khoa học Tự nhiên - ĐHQG TP.HCM | Khoa ĐTVT  •  Đồ án MIMO 2x2 (ETC10309)  •  Trang 20 / 21</a:t>
            </a:r>
          </a:p>
        </p:txBody>
      </p:sp>
      <p:sp>
        <p:nvSpPr>
          <p:cNvPr id="7" name="Rectangle 6"/>
          <p:cNvSpPr/>
          <p:nvPr/>
        </p:nvSpPr>
        <p:spPr>
          <a:xfrm>
            <a:off x="731520" y="1371600"/>
            <a:ext cx="3383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383280" cy="384048"/>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1. LÝ THUYẾT &amp; GIẢI TÍCH</a:t>
            </a:r>
          </a:p>
        </p:txBody>
      </p:sp>
      <p:sp>
        <p:nvSpPr>
          <p:cNvPr id="9" name="TextBox 8"/>
          <p:cNvSpPr txBox="1"/>
          <p:nvPr/>
        </p:nvSpPr>
        <p:spPr>
          <a:xfrm>
            <a:off x="822960" y="1828800"/>
            <a:ext cx="3200400" cy="4206240"/>
          </a:xfrm>
          <a:prstGeom prst="rect">
            <a:avLst/>
          </a:prstGeom>
          <a:noFill/>
        </p:spPr>
        <p:txBody>
          <a:bodyPr wrap="square">
            <a:spAutoFit/>
          </a:bodyPr>
          <a:lstStyle/>
          <a:p>
            <a:pPr>
              <a:spcAft>
                <a:spcPts val="700"/>
              </a:spcAft>
              <a:defRPr sz="1050">
                <a:solidFill>
                  <a:srgbClr val="1E293B"/>
                </a:solidFill>
                <a:latin typeface="Arial"/>
              </a:defRPr>
            </a:pPr>
            <a:r>
              <a:t>•  Hoàn thành 100% dẫn xuất toán học chi tiết cho cả hai sơ đồ STBC Alamouti và SDM 2x2.</a:t>
            </a:r>
          </a:p>
          <a:p>
            <a:pPr>
              <a:spcAft>
                <a:spcPts val="700"/>
              </a:spcAft>
              <a:defRPr sz="1050">
                <a:solidFill>
                  <a:srgbClr val="1E293B"/>
                </a:solidFill>
                <a:latin typeface="Arial"/>
              </a:defRPr>
            </a:pPr>
            <a:r>
              <a:t>•  Khảo sát toàn diện ma trận kênh cố định H = [0.7 0.3; 0.4 0.6]: Tính chính xác các giá trị r0..r3.</a:t>
            </a:r>
          </a:p>
          <a:p>
            <a:pPr>
              <a:spcAft>
                <a:spcPts val="700"/>
              </a:spcAft>
              <a:defRPr sz="1050">
                <a:solidFill>
                  <a:srgbClr val="1E293B"/>
                </a:solidFill>
                <a:latin typeface="Arial"/>
              </a:defRPr>
            </a:pPr>
            <a:r>
              <a:t>•  Chứng minh toán học tính trực giao của ma trận kênh hiệu dụng H_eff và khôi phục hoàn hảo tín hiệu gốc.</a:t>
            </a:r>
          </a:p>
          <a:p>
            <a:pPr>
              <a:spcAft>
                <a:spcPts val="700"/>
              </a:spcAft>
              <a:defRPr sz="1050">
                <a:solidFill>
                  <a:srgbClr val="1E293B"/>
                </a:solidFill>
                <a:latin typeface="Arial"/>
              </a:defRPr>
            </a:pPr>
            <a:r>
              <a:t>•  Làm rõ hiện tượng khuếch đại nhiễu của tách sóng tuyến tính ZF và cơ chế phân rã kênh trực giao SVD.</a:t>
            </a:r>
          </a:p>
        </p:txBody>
      </p:sp>
      <p:sp>
        <p:nvSpPr>
          <p:cNvPr id="10" name="Rectangle 9"/>
          <p:cNvSpPr/>
          <p:nvPr/>
        </p:nvSpPr>
        <p:spPr>
          <a:xfrm>
            <a:off x="4403750" y="1371600"/>
            <a:ext cx="3383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03750" y="1371600"/>
            <a:ext cx="3383280" cy="384048"/>
          </a:xfrm>
          <a:prstGeom prst="rect">
            <a:avLst/>
          </a:prstGeom>
          <a:solidFill>
            <a:srgbClr val="0D3B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2. MÔ PHỎNG &amp; THỰC NGHIỆM</a:t>
            </a:r>
          </a:p>
        </p:txBody>
      </p:sp>
      <p:sp>
        <p:nvSpPr>
          <p:cNvPr id="12" name="TextBox 11"/>
          <p:cNvSpPr txBox="1"/>
          <p:nvPr/>
        </p:nvSpPr>
        <p:spPr>
          <a:xfrm>
            <a:off x="4495190" y="1828800"/>
            <a:ext cx="3200400" cy="4206240"/>
          </a:xfrm>
          <a:prstGeom prst="rect">
            <a:avLst/>
          </a:prstGeom>
          <a:noFill/>
        </p:spPr>
        <p:txBody>
          <a:bodyPr wrap="square">
            <a:spAutoFit/>
          </a:bodyPr>
          <a:lstStyle/>
          <a:p>
            <a:pPr>
              <a:spcAft>
                <a:spcPts val="700"/>
              </a:spcAft>
              <a:defRPr sz="1050">
                <a:solidFill>
                  <a:srgbClr val="1E293B"/>
                </a:solidFill>
                <a:latin typeface="Arial"/>
              </a:defRPr>
            </a:pPr>
            <a:r>
              <a:t>•  Xây dựng thành công bộ mô phỏng Monte Carlo 2x10^5 bit trên cả hai nền tảng MATLAB và Python.</a:t>
            </a:r>
          </a:p>
          <a:p>
            <a:pPr>
              <a:spcAft>
                <a:spcPts val="700"/>
              </a:spcAft>
              <a:defRPr sz="1050">
                <a:solidFill>
                  <a:srgbClr val="1E293B"/>
                </a:solidFill>
                <a:latin typeface="Arial"/>
              </a:defRPr>
            </a:pPr>
            <a:r>
              <a:t>•  Kiểm chứng tính đúng đắn: Các đường cong mô phỏng BER và dung lượng Shannon trùng khớp hoàn hảo với các mô hình giải tích khép kín.</a:t>
            </a:r>
          </a:p>
          <a:p>
            <a:pPr>
              <a:spcAft>
                <a:spcPts val="700"/>
              </a:spcAft>
              <a:defRPr sz="1050">
                <a:solidFill>
                  <a:srgbClr val="1E293B"/>
                </a:solidFill>
                <a:latin typeface="Arial"/>
              </a:defRPr>
            </a:pPr>
            <a:r>
              <a:t>•  Xác thực độ lợi phân tập d=4 và độ lợi SNR +16.5 dB tại BER=10^-3 của hệ thống MIMO 2x2 Alamouti.</a:t>
            </a:r>
          </a:p>
          <a:p>
            <a:pPr>
              <a:spcAft>
                <a:spcPts val="700"/>
              </a:spcAft>
              <a:defRPr sz="1050">
                <a:solidFill>
                  <a:srgbClr val="1E293B"/>
                </a:solidFill>
                <a:latin typeface="Arial"/>
              </a:defRPr>
            </a:pPr>
            <a:r>
              <a:t>•  Khẳng định ngưỡng Water-filling 10.15 dB phân định rõ 2 chế độ Beamforming và Ghép kênh.</a:t>
            </a:r>
          </a:p>
        </p:txBody>
      </p:sp>
      <p:sp>
        <p:nvSpPr>
          <p:cNvPr id="13" name="Rectangle 12"/>
          <p:cNvSpPr/>
          <p:nvPr/>
        </p:nvSpPr>
        <p:spPr>
          <a:xfrm>
            <a:off x="8076895" y="1371600"/>
            <a:ext cx="3383280" cy="484632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76895" y="1371600"/>
            <a:ext cx="3383280" cy="38404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l">
              <a:defRPr sz="1100" b="1">
                <a:solidFill>
                  <a:srgbClr val="FFFFFF"/>
                </a:solidFill>
                <a:latin typeface="Arial"/>
              </a:defRPr>
            </a:pPr>
            <a:r>
              <a:t>  3. GIÁ TRỊ &amp; HƯỚNG PHÁT TRIỂN</a:t>
            </a:r>
          </a:p>
        </p:txBody>
      </p:sp>
      <p:sp>
        <p:nvSpPr>
          <p:cNvPr id="15" name="TextBox 14"/>
          <p:cNvSpPr txBox="1"/>
          <p:nvPr/>
        </p:nvSpPr>
        <p:spPr>
          <a:xfrm>
            <a:off x="8168335" y="1828800"/>
            <a:ext cx="3200400" cy="4206240"/>
          </a:xfrm>
          <a:prstGeom prst="rect">
            <a:avLst/>
          </a:prstGeom>
          <a:noFill/>
        </p:spPr>
        <p:txBody>
          <a:bodyPr wrap="square">
            <a:spAutoFit/>
          </a:bodyPr>
          <a:lstStyle/>
          <a:p>
            <a:pPr>
              <a:spcAft>
                <a:spcPts val="600"/>
              </a:spcAft>
              <a:defRPr sz="1050">
                <a:solidFill>
                  <a:srgbClr val="1E293B"/>
                </a:solidFill>
                <a:latin typeface="Arial"/>
              </a:defRPr>
            </a:pPr>
            <a:r>
              <a:t>•  Làm sáng tỏ nguyên lý đánh đổi DMT (Zheng - Tse), cung cấp luận cứ khoa học cho thuật toán thích nghi đường truyền.</a:t>
            </a:r>
          </a:p>
          <a:p>
            <a:pPr>
              <a:spcAft>
                <a:spcPts val="600"/>
              </a:spcAft>
              <a:defRPr sz="1050">
                <a:solidFill>
                  <a:srgbClr val="1E293B"/>
                </a:solidFill>
                <a:latin typeface="Arial"/>
              </a:defRPr>
            </a:pPr>
            <a:r>
              <a:t>•  Đặt nền tảng vững chắc để mở rộng nghiên cứu sang các cấu hình đa anten quy mô lớn trong 5G-Advanced và 6G:</a:t>
            </a:r>
          </a:p>
          <a:p>
            <a:pPr>
              <a:spcAft>
                <a:spcPts val="600"/>
              </a:spcAft>
              <a:defRPr sz="1050">
                <a:solidFill>
                  <a:srgbClr val="1E293B"/>
                </a:solidFill>
                <a:latin typeface="Arial"/>
              </a:defRPr>
            </a:pPr>
            <a:r>
              <a:t>•  • Massive MIMO và XL-MIMO với hàng trăm phần tử anten.</a:t>
            </a:r>
          </a:p>
          <a:p>
            <a:pPr>
              <a:spcAft>
                <a:spcPts val="600"/>
              </a:spcAft>
              <a:defRPr sz="1050">
                <a:solidFill>
                  <a:srgbClr val="1E293B"/>
                </a:solidFill>
                <a:latin typeface="Arial"/>
              </a:defRPr>
            </a:pPr>
            <a:r>
              <a:t>•  • Băng tần sóng milimet (mmWave / THz) kết hợp Hybrid Beamforming.</a:t>
            </a:r>
          </a:p>
          <a:p>
            <a:pPr>
              <a:spcAft>
                <a:spcPts val="600"/>
              </a:spcAft>
              <a:defRPr sz="1050">
                <a:solidFill>
                  <a:srgbClr val="1E293B"/>
                </a:solidFill>
                <a:latin typeface="Arial"/>
              </a:defRPr>
            </a:pPr>
            <a:r>
              <a:t>•  • Mạng phân tán Cell-Free MIMO tích hợp bề mặt phản xạ thông minh RIS.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2B4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731520"/>
            <a:ext cx="10728655" cy="731520"/>
          </a:xfrm>
          <a:prstGeom prst="rect">
            <a:avLst/>
          </a:prstGeom>
          <a:noFill/>
        </p:spPr>
        <p:txBody>
          <a:bodyPr wrap="none">
            <a:spAutoFit/>
          </a:bodyPr>
          <a:lstStyle/>
          <a:p>
            <a:pPr algn="ctr">
              <a:defRPr sz="1200" b="1">
                <a:solidFill>
                  <a:srgbClr val="00A896"/>
                </a:solidFill>
                <a:latin typeface="Arial"/>
              </a:defRPr>
            </a:pPr>
            <a:r>
              <a:t>TRƯỜNG ĐẠI HỌC KHOA HỌC TỰ NHIÊN - ĐHQG TP.HCM  •  KHOA ĐIỆN TỬ - VIỄN THÔNG</a:t>
            </a:r>
          </a:p>
        </p:txBody>
      </p:sp>
      <p:sp>
        <p:nvSpPr>
          <p:cNvPr id="5" name="TextBox 4"/>
          <p:cNvSpPr txBox="1"/>
          <p:nvPr/>
        </p:nvSpPr>
        <p:spPr>
          <a:xfrm>
            <a:off x="731520" y="1645920"/>
            <a:ext cx="10728655" cy="1371600"/>
          </a:xfrm>
          <a:prstGeom prst="rect">
            <a:avLst/>
          </a:prstGeom>
          <a:noFill/>
        </p:spPr>
        <p:txBody>
          <a:bodyPr wrap="square">
            <a:spAutoFit/>
          </a:bodyPr>
          <a:lstStyle/>
          <a:p>
            <a:pPr algn="ctr">
              <a:defRPr sz="3000" b="1">
                <a:solidFill>
                  <a:srgbClr val="FFFFFF"/>
                </a:solidFill>
                <a:latin typeface="Arial"/>
              </a:defRPr>
            </a:pPr>
            <a:r>
              <a:t>XIN CHÂN THÀNH CẢM ƠN QUÝ THẦY</a:t>
            </a:r>
            <a:br/>
            <a:r>
              <a:t>VÀ CÁC BẠN ĐÃ LẮNG NGHE!</a:t>
            </a:r>
          </a:p>
        </p:txBody>
      </p:sp>
      <p:sp>
        <p:nvSpPr>
          <p:cNvPr id="6" name="Rectangle 5"/>
          <p:cNvSpPr/>
          <p:nvPr/>
        </p:nvSpPr>
        <p:spPr>
          <a:xfrm>
            <a:off x="2560320" y="3291840"/>
            <a:ext cx="7071055" cy="2011680"/>
          </a:xfrm>
          <a:prstGeom prst="rect">
            <a:avLst/>
          </a:prstGeom>
          <a:solidFill>
            <a:srgbClr val="0D3B66"/>
          </a:solidFill>
          <a:ln w="12700">
            <a:solidFill>
              <a:srgbClr val="00A896"/>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200" b="1">
                <a:solidFill>
                  <a:srgbClr val="00A896"/>
                </a:solidFill>
                <a:latin typeface="Arial"/>
              </a:defRPr>
            </a:pPr>
            <a:r>
              <a:t>ĐỒ ÁN MÔN HỌC: TRUYỀN THÔNG KHÔNG DÂY (ETC10309)</a:t>
            </a:r>
          </a:p>
          <a:p>
            <a:pPr algn="ctr">
              <a:spcAft>
                <a:spcPts val="600"/>
              </a:spcAft>
              <a:defRPr sz="1300" b="1">
                <a:solidFill>
                  <a:srgbClr val="FFFFFF"/>
                </a:solidFill>
                <a:latin typeface="Arial"/>
              </a:defRPr>
            </a:pPr>
            <a:r>
              <a:t>Đề tài: Thiết kế và Mô phỏng Hệ thống MIMO 2x2 sử dụng STBC và SDM</a:t>
            </a:r>
          </a:p>
          <a:p>
            <a:pPr algn="ctr">
              <a:spcAft>
                <a:spcPts val="400"/>
              </a:spcAft>
              <a:defRPr sz="1150">
                <a:solidFill>
                  <a:srgbClr val="FFFFFF"/>
                </a:solidFill>
                <a:latin typeface="Arial"/>
              </a:defRPr>
            </a:pPr>
            <a:r>
              <a:t>GVHD: TS. Đặng Lê Khoa  —  CN. Nguyễn Dũng</a:t>
            </a:r>
          </a:p>
          <a:p>
            <a:pPr algn="ctr">
              <a:defRPr sz="1150">
                <a:solidFill>
                  <a:srgbClr val="FFFFFF"/>
                </a:solidFill>
                <a:latin typeface="Arial"/>
              </a:defRPr>
            </a:pPr>
            <a:r>
              <a:t>SVTH: Lê Ngọc Tường  —  MSSV: 22207044  —  Lớp: 22DTV_CLC1</a:t>
            </a:r>
          </a:p>
        </p:txBody>
      </p:sp>
      <p:sp>
        <p:nvSpPr>
          <p:cNvPr id="7" name="Rounded Rectangle 6"/>
          <p:cNvSpPr/>
          <p:nvPr/>
        </p:nvSpPr>
        <p:spPr>
          <a:xfrm>
            <a:off x="4206240" y="5577840"/>
            <a:ext cx="3779215" cy="502920"/>
          </a:xfrm>
          <a:prstGeom prst="roundRect">
            <a:avLst/>
          </a:prstGeom>
          <a:solidFill>
            <a:srgbClr val="00A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FFFFF"/>
                </a:solidFill>
                <a:latin typeface="Arial"/>
              </a:defRPr>
            </a:pPr>
            <a:r>
              <a:t>CHƯƠNG TRÌNH HỎI &amp; ĐÁP (Q&amp;A)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